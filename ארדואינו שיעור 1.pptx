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143500" cx="9144000"/>
  <p:notesSz cx="6858000" cy="9144000"/>
  <p:embeddedFontLst>
    <p:embeddedFont>
      <p:font typeface="Playfair Display"/>
      <p:regular r:id="rId29"/>
      <p:bold r:id="rId30"/>
      <p:italic r:id="rId31"/>
      <p:boldItalic r:id="rId32"/>
    </p:embeddedFont>
    <p:embeddedFont>
      <p:font typeface="Montserrat"/>
      <p:regular r:id="rId33"/>
      <p:bold r:id="rId34"/>
      <p:italic r:id="rId35"/>
      <p:boldItalic r:id="rId36"/>
    </p:embeddedFont>
    <p:embeddedFont>
      <p:font typeface="Oswald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layfairDisplay-italic.fntdata"/><Relationship Id="rId30" Type="http://schemas.openxmlformats.org/officeDocument/2006/relationships/font" Target="fonts/PlayfairDisplay-bold.fntdata"/><Relationship Id="rId11" Type="http://schemas.openxmlformats.org/officeDocument/2006/relationships/slide" Target="slides/slide6.xml"/><Relationship Id="rId33" Type="http://schemas.openxmlformats.org/officeDocument/2006/relationships/font" Target="fonts/Montserrat-regular.fntdata"/><Relationship Id="rId10" Type="http://schemas.openxmlformats.org/officeDocument/2006/relationships/slide" Target="slides/slide5.xml"/><Relationship Id="rId32" Type="http://schemas.openxmlformats.org/officeDocument/2006/relationships/font" Target="fonts/PlayfairDisplay-boldItalic.fntdata"/><Relationship Id="rId13" Type="http://schemas.openxmlformats.org/officeDocument/2006/relationships/slide" Target="slides/slide8.xml"/><Relationship Id="rId35" Type="http://schemas.openxmlformats.org/officeDocument/2006/relationships/font" Target="fonts/Montserrat-italic.fntdata"/><Relationship Id="rId12" Type="http://schemas.openxmlformats.org/officeDocument/2006/relationships/slide" Target="slides/slide7.xml"/><Relationship Id="rId34" Type="http://schemas.openxmlformats.org/officeDocument/2006/relationships/font" Target="fonts/Montserrat-bold.fntdata"/><Relationship Id="rId15" Type="http://schemas.openxmlformats.org/officeDocument/2006/relationships/slide" Target="slides/slide10.xml"/><Relationship Id="rId37" Type="http://schemas.openxmlformats.org/officeDocument/2006/relationships/font" Target="fonts/Oswald-regular.fntdata"/><Relationship Id="rId14" Type="http://schemas.openxmlformats.org/officeDocument/2006/relationships/slide" Target="slides/slide9.xml"/><Relationship Id="rId36" Type="http://schemas.openxmlformats.org/officeDocument/2006/relationships/font" Target="fonts/Montserrat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Oswald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7c2362b9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7c2362b9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7c2362b99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7c2362b99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47c9bf6da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47c9bf6da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47c9bf6da1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47c9bf6da1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7c9bf6d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47c9bf6d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47c9bf6da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47c9bf6da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7c9bf6da1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7c9bf6da1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47c9bf6da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47c9bf6da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7c9bf6da1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47c9bf6da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7c9bf6da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7c9bf6da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47c9bf6da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47c9bf6da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7c9bf6da1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7c9bf6da1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7c9bf6da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7c9bf6da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47c9bf6da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47c9bf6da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47c9bf6da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47c9bf6da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7c9bf6da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7c9bf6da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47c9bf6da1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47c9bf6da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47c9bf6da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47c9bf6da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47c9bf6da1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47c9bf6da1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7c9bf6da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7c9bf6da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7c9bf6da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7c9bf6da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47c9bf6da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47c9bf6da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ארדואינו שיעור 1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889650" y="35163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שימוש בארדואינו, והדלקת מנורה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תזכורת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75" y="1252538"/>
            <a:ext cx="664845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הדלקת נורה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מצרכים: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לד - דיודה פולטת אור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הצדדים חשובים!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אזהרה הכנסת נורה בכיוון לא נכון עלולה לשרוף אותה )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" name="Google Shape;73;p15"/>
          <p:cNvGrpSpPr/>
          <p:nvPr/>
        </p:nvGrpSpPr>
        <p:grpSpPr>
          <a:xfrm>
            <a:off x="4572000" y="1127375"/>
            <a:ext cx="1876000" cy="1747500"/>
            <a:chOff x="4572000" y="1127375"/>
            <a:chExt cx="1876000" cy="1747500"/>
          </a:xfrm>
        </p:grpSpPr>
        <p:pic>
          <p:nvPicPr>
            <p:cNvPr id="74" name="Google Shape;74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72000" y="1127375"/>
              <a:ext cx="1876000" cy="17475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pic>
        <p:sp>
          <p:nvSpPr>
            <p:cNvPr id="75" name="Google Shape;75;p15"/>
            <p:cNvSpPr txBox="1"/>
            <p:nvPr/>
          </p:nvSpPr>
          <p:spPr>
            <a:xfrm>
              <a:off x="5845900" y="1403800"/>
              <a:ext cx="280200" cy="3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/>
                <a:t>-</a:t>
              </a:r>
              <a:endParaRPr sz="1800"/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6126100" y="1718200"/>
              <a:ext cx="321900" cy="36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+</a:t>
              </a:r>
              <a:endParaRPr sz="180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חיבור הארדואינו למחשב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נראה שהמחשב מזהה את הארדואינו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-&gt;-&gt;-&gt;-&gt;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נראה שהמחשב מתחבר אליו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בחיבור הנכון -&gt;-&gt;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-&gt;-&gt;-&gt;-&gt;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זה שרשום בוא Arduino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925" y="290200"/>
            <a:ext cx="4410000" cy="230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925" y="2722425"/>
            <a:ext cx="5854500" cy="20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Serial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הארדואינו יודע לדבר עם המחשב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משמש לתקשורת בין המחשב לארדואינו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מגדיר באיזה קצב הארדואינו יתקשר עם המחשב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למה צריך להגדיר את הקצב דיבור?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התוכנית הראשונה שנעשה עם הארדואינו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(9600); // מגדיר את קצב התקשורת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println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400">
                <a:solidFill>
                  <a:srgbClr val="005C5F"/>
                </a:solidFill>
                <a:latin typeface="Arial"/>
                <a:ea typeface="Arial"/>
                <a:cs typeface="Arial"/>
                <a:sym typeface="Arial"/>
              </a:rPr>
              <a:t>"Hey! I am the Arduino"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 //  כותב על המסך שורה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03" name="Google Shape;103;p19"/>
          <p:cNvGrpSpPr/>
          <p:nvPr/>
        </p:nvGrpSpPr>
        <p:grpSpPr>
          <a:xfrm>
            <a:off x="4436425" y="1605275"/>
            <a:ext cx="4237476" cy="2309499"/>
            <a:chOff x="4436425" y="2834000"/>
            <a:chExt cx="4237476" cy="2309499"/>
          </a:xfrm>
        </p:grpSpPr>
        <p:pic>
          <p:nvPicPr>
            <p:cNvPr id="104" name="Google Shape;104;p19"/>
            <p:cNvPicPr preferRelativeResize="0"/>
            <p:nvPr/>
          </p:nvPicPr>
          <p:blipFill rotWithShape="1">
            <a:blip r:embed="rId3">
              <a:alphaModFix/>
            </a:blip>
            <a:srcRect b="55098" l="0" r="0" t="0"/>
            <a:stretch/>
          </p:blipFill>
          <p:spPr>
            <a:xfrm>
              <a:off x="4572000" y="2834000"/>
              <a:ext cx="4101901" cy="230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19"/>
            <p:cNvSpPr/>
            <p:nvPr/>
          </p:nvSpPr>
          <p:spPr>
            <a:xfrm>
              <a:off x="4436425" y="3280575"/>
              <a:ext cx="516600" cy="438300"/>
            </a:xfrm>
            <a:prstGeom prst="ellipse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6" name="Google Shape;106;p19"/>
          <p:cNvSpPr/>
          <p:nvPr/>
        </p:nvSpPr>
        <p:spPr>
          <a:xfrm>
            <a:off x="3883976" y="2433325"/>
            <a:ext cx="552445" cy="323850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7" name="Google Shape;107;p19"/>
          <p:cNvSpPr txBox="1"/>
          <p:nvPr/>
        </p:nvSpPr>
        <p:spPr>
          <a:xfrm>
            <a:off x="454975" y="2095048"/>
            <a:ext cx="3338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לחצו על הכפתור שבעיגול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</a:rPr>
              <a:t>הכפתור הזה בודק שהקוד נכון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 port (uplode and run)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20"/>
          <p:cNvGrpSpPr/>
          <p:nvPr/>
        </p:nvGrpSpPr>
        <p:grpSpPr>
          <a:xfrm>
            <a:off x="4572000" y="1605275"/>
            <a:ext cx="4101901" cy="2309499"/>
            <a:chOff x="4572000" y="2834000"/>
            <a:chExt cx="4101901" cy="2309499"/>
          </a:xfrm>
        </p:grpSpPr>
        <p:pic>
          <p:nvPicPr>
            <p:cNvPr id="115" name="Google Shape;115;p20"/>
            <p:cNvPicPr preferRelativeResize="0"/>
            <p:nvPr/>
          </p:nvPicPr>
          <p:blipFill rotWithShape="1">
            <a:blip r:embed="rId3">
              <a:alphaModFix/>
            </a:blip>
            <a:srcRect b="55098" l="0" r="0" t="0"/>
            <a:stretch/>
          </p:blipFill>
          <p:spPr>
            <a:xfrm>
              <a:off x="4572000" y="2834000"/>
              <a:ext cx="4101901" cy="230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" name="Google Shape;116;p20"/>
            <p:cNvSpPr/>
            <p:nvPr/>
          </p:nvSpPr>
          <p:spPr>
            <a:xfrm>
              <a:off x="4817425" y="3232950"/>
              <a:ext cx="516600" cy="438300"/>
            </a:xfrm>
            <a:prstGeom prst="ellipse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20"/>
          <p:cNvSpPr/>
          <p:nvPr/>
        </p:nvSpPr>
        <p:spPr>
          <a:xfrm>
            <a:off x="4017325" y="2309500"/>
            <a:ext cx="847706" cy="262271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18" name="Google Shape;118;p20"/>
          <p:cNvSpPr txBox="1"/>
          <p:nvPr/>
        </p:nvSpPr>
        <p:spPr>
          <a:xfrm>
            <a:off x="778825" y="2095048"/>
            <a:ext cx="3338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עכשיו לחצו על הכפתור השני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הכפתור הזה מכניס את הקוד לארדואינו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25" name="Google Shape;125;p21"/>
          <p:cNvGrpSpPr/>
          <p:nvPr/>
        </p:nvGrpSpPr>
        <p:grpSpPr>
          <a:xfrm>
            <a:off x="4572000" y="1605275"/>
            <a:ext cx="4101901" cy="2309499"/>
            <a:chOff x="4572000" y="2834000"/>
            <a:chExt cx="4101901" cy="2309499"/>
          </a:xfrm>
        </p:grpSpPr>
        <p:pic>
          <p:nvPicPr>
            <p:cNvPr id="126" name="Google Shape;126;p21"/>
            <p:cNvPicPr preferRelativeResize="0"/>
            <p:nvPr/>
          </p:nvPicPr>
          <p:blipFill rotWithShape="1">
            <a:blip r:embed="rId3">
              <a:alphaModFix/>
            </a:blip>
            <a:srcRect b="55098" l="0" r="0" t="0"/>
            <a:stretch/>
          </p:blipFill>
          <p:spPr>
            <a:xfrm>
              <a:off x="4572000" y="2834000"/>
              <a:ext cx="4101901" cy="230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21"/>
            <p:cNvSpPr/>
            <p:nvPr/>
          </p:nvSpPr>
          <p:spPr>
            <a:xfrm>
              <a:off x="8157300" y="3261525"/>
              <a:ext cx="516600" cy="438300"/>
            </a:xfrm>
            <a:prstGeom prst="ellipse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8" name="Google Shape;128;p21"/>
          <p:cNvSpPr/>
          <p:nvPr/>
        </p:nvSpPr>
        <p:spPr>
          <a:xfrm>
            <a:off x="4017325" y="2271401"/>
            <a:ext cx="4000476" cy="300371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29" name="Google Shape;129;p21"/>
          <p:cNvSpPr txBox="1"/>
          <p:nvPr/>
        </p:nvSpPr>
        <p:spPr>
          <a:xfrm>
            <a:off x="778825" y="2095051"/>
            <a:ext cx="3338100" cy="1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עכשיו לחצו על הכפתור הזה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הכפתור הזה פותח את טרמינל התקשורת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</a:rPr>
              <a:t>מה כתוב </a:t>
            </a:r>
            <a:r>
              <a:rPr lang="en">
                <a:solidFill>
                  <a:schemeClr val="dk2"/>
                </a:solidFill>
              </a:rPr>
              <a:t>בטרמינל</a:t>
            </a:r>
            <a:r>
              <a:rPr lang="en">
                <a:solidFill>
                  <a:schemeClr val="dk2"/>
                </a:solidFill>
              </a:rPr>
              <a:t>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התוכנית הראשונה שנעשה עם הארדואינו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(9600); // מגדיר את קצב התקשורת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println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400">
                <a:solidFill>
                  <a:srgbClr val="005C5F"/>
                </a:solidFill>
                <a:latin typeface="Arial"/>
                <a:ea typeface="Arial"/>
                <a:cs typeface="Arial"/>
                <a:sym typeface="Arial"/>
              </a:rPr>
              <a:t>"Hey! I am the Arduino"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 //  כותב על המסך שורה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 txBox="1"/>
          <p:nvPr/>
        </p:nvSpPr>
        <p:spPr>
          <a:xfrm>
            <a:off x="5730875" y="1522400"/>
            <a:ext cx="2878500" cy="30051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תוסיפו שורה שתרשום OK בסוף של הsetup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ככה נדע שהכל בסדר והתוכנה רצה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חיבורים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3"/>
          <p:cNvSpPr txBox="1"/>
          <p:nvPr/>
        </p:nvSpPr>
        <p:spPr>
          <a:xfrm>
            <a:off x="6462875" y="1813350"/>
            <a:ext cx="23043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מנורה מהבהבת</a:t>
            </a:r>
            <a:endParaRPr/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36775"/>
            <a:ext cx="4734828" cy="4329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חיבורים</a:t>
            </a:r>
            <a:endParaRPr/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/>
        </p:nvSpPr>
        <p:spPr>
          <a:xfrm>
            <a:off x="6462875" y="1813350"/>
            <a:ext cx="23043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תחברו את הארדואינו למחשב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מה קורה לנורה?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36775"/>
            <a:ext cx="4734828" cy="4329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4"/>
          <p:cNvCxnSpPr/>
          <p:nvPr/>
        </p:nvCxnSpPr>
        <p:spPr>
          <a:xfrm rot="10800000">
            <a:off x="1207400" y="3449100"/>
            <a:ext cx="1104900" cy="96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חיבורים</a:t>
            </a:r>
            <a:endParaRPr/>
          </a:p>
        </p:txBody>
      </p:sp>
      <p:sp>
        <p:nvSpPr>
          <p:cNvPr id="159" name="Google Shape;159;p2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5"/>
          <p:cNvSpPr txBox="1"/>
          <p:nvPr/>
        </p:nvSpPr>
        <p:spPr>
          <a:xfrm>
            <a:off x="6462875" y="1813350"/>
            <a:ext cx="23043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עכשיו תנתקו את הארדואינו מהמחשב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36775"/>
            <a:ext cx="4734828" cy="43294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" name="Google Shape;162;p25"/>
          <p:cNvCxnSpPr/>
          <p:nvPr/>
        </p:nvCxnSpPr>
        <p:spPr>
          <a:xfrm rot="10800000">
            <a:off x="668350" y="3441625"/>
            <a:ext cx="1104900" cy="9600"/>
          </a:xfrm>
          <a:prstGeom prst="straightConnector1">
            <a:avLst/>
          </a:prstGeom>
          <a:noFill/>
          <a:ln cap="flat" cmpd="sng" w="3810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כתיבה לpin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68" name="Google Shape;168;p26"/>
          <p:cNvSpPr txBox="1"/>
          <p:nvPr/>
        </p:nvSpPr>
        <p:spPr>
          <a:xfrm>
            <a:off x="597450" y="628725"/>
            <a:ext cx="59556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D35400"/>
                </a:solidFill>
              </a:rPr>
              <a:t>pinMode</a:t>
            </a:r>
            <a:r>
              <a:rPr lang="en" sz="2400">
                <a:solidFill>
                  <a:schemeClr val="dk2"/>
                </a:solidFill>
              </a:rPr>
              <a:t>(13</a:t>
            </a:r>
            <a:r>
              <a:rPr lang="en" sz="2400">
                <a:solidFill>
                  <a:srgbClr val="434F54"/>
                </a:solidFill>
              </a:rPr>
              <a:t>,</a:t>
            </a:r>
            <a:r>
              <a:rPr lang="en" sz="2400">
                <a:solidFill>
                  <a:srgbClr val="00979C"/>
                </a:solidFill>
              </a:rPr>
              <a:t>OUTPUT</a:t>
            </a:r>
            <a:r>
              <a:rPr lang="en" sz="2400">
                <a:solidFill>
                  <a:schemeClr val="dk2"/>
                </a:solidFill>
              </a:rPr>
              <a:t>); </a:t>
            </a:r>
            <a:endParaRPr sz="2400"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הפקודה הזאת אומרת:  התוכנית תכתוב לפין 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13 </a:t>
            </a:r>
            <a:endParaRPr sz="3000">
              <a:solidFill>
                <a:schemeClr val="dk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6"/>
          <p:cNvSpPr txBox="1"/>
          <p:nvPr/>
        </p:nvSpPr>
        <p:spPr>
          <a:xfrm>
            <a:off x="454575" y="1714575"/>
            <a:ext cx="5955600" cy="9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D35400"/>
                </a:solidFill>
              </a:rPr>
              <a:t>digitalWrite</a:t>
            </a:r>
            <a:r>
              <a:rPr lang="en" sz="2400">
                <a:solidFill>
                  <a:schemeClr val="dk2"/>
                </a:solidFill>
              </a:rPr>
              <a:t>(13</a:t>
            </a:r>
            <a:r>
              <a:rPr lang="en" sz="2400">
                <a:solidFill>
                  <a:srgbClr val="434F54"/>
                </a:solidFill>
              </a:rPr>
              <a:t>,</a:t>
            </a:r>
            <a:r>
              <a:rPr lang="en" sz="2400">
                <a:solidFill>
                  <a:schemeClr val="dk2"/>
                </a:solidFill>
              </a:rPr>
              <a:t> </a:t>
            </a:r>
            <a:r>
              <a:rPr lang="en" sz="2400">
                <a:solidFill>
                  <a:srgbClr val="00979C"/>
                </a:solidFill>
              </a:rPr>
              <a:t>HIGH</a:t>
            </a:r>
            <a:r>
              <a:rPr lang="en" sz="2400">
                <a:solidFill>
                  <a:schemeClr val="dk2"/>
                </a:solidFill>
              </a:rPr>
              <a:t>);</a:t>
            </a:r>
            <a:endParaRPr sz="2400">
              <a:solidFill>
                <a:schemeClr val="dk2"/>
              </a:solidFill>
              <a:highlight>
                <a:schemeClr val="dk1"/>
              </a:highlight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הפקודה הזאת אומרת לפין 13 להיות ב-HIGH כלומר עם חשמל</a:t>
            </a:r>
            <a:endParaRPr sz="1600">
              <a:solidFill>
                <a:schemeClr val="dk2"/>
              </a:solidFill>
              <a:highlight>
                <a:schemeClr val="dk1"/>
              </a:highlight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6"/>
          <p:cNvSpPr txBox="1"/>
          <p:nvPr/>
        </p:nvSpPr>
        <p:spPr>
          <a:xfrm>
            <a:off x="597450" y="2895675"/>
            <a:ext cx="59556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D35400"/>
                </a:solidFill>
              </a:rPr>
              <a:t>digitalWrite</a:t>
            </a:r>
            <a:r>
              <a:rPr lang="en" sz="2400">
                <a:solidFill>
                  <a:schemeClr val="dk2"/>
                </a:solidFill>
              </a:rPr>
              <a:t>(10</a:t>
            </a:r>
            <a:r>
              <a:rPr lang="en" sz="2400">
                <a:solidFill>
                  <a:srgbClr val="434F54"/>
                </a:solidFill>
              </a:rPr>
              <a:t>,</a:t>
            </a:r>
            <a:r>
              <a:rPr lang="en" sz="2400">
                <a:solidFill>
                  <a:schemeClr val="dk2"/>
                </a:solidFill>
              </a:rPr>
              <a:t> </a:t>
            </a:r>
            <a:r>
              <a:rPr lang="en" sz="2400">
                <a:solidFill>
                  <a:srgbClr val="00979C"/>
                </a:solidFill>
              </a:rPr>
              <a:t>LOW</a:t>
            </a:r>
            <a:r>
              <a:rPr lang="en" sz="2400">
                <a:solidFill>
                  <a:schemeClr val="dk2"/>
                </a:solidFill>
              </a:rPr>
              <a:t>);</a:t>
            </a:r>
            <a:endParaRPr sz="2400">
              <a:solidFill>
                <a:schemeClr val="dk2"/>
              </a:solidFill>
              <a:highlight>
                <a:schemeClr val="dk1"/>
              </a:highlight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הפקודה הזאת אומרת לפין 10  להיות ב-LOW כלומר בלי חשמל</a:t>
            </a:r>
            <a:endParaRPr sz="1600"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חשוב שלפני שנכתוב באמצעות </a:t>
            </a:r>
            <a:r>
              <a:rPr lang="en" sz="1600">
                <a:solidFill>
                  <a:srgbClr val="D35400"/>
                </a:solidFill>
              </a:rPr>
              <a:t>digitalWrite </a:t>
            </a:r>
            <a:r>
              <a:rPr lang="en" sz="1600"/>
              <a:t>נגדיר </a:t>
            </a:r>
            <a:r>
              <a:rPr lang="en" sz="1600">
                <a:solidFill>
                  <a:srgbClr val="D35400"/>
                </a:solidFill>
                <a:highlight>
                  <a:schemeClr val="dk1"/>
                </a:highlight>
              </a:rPr>
              <a:t>pinMode</a:t>
            </a:r>
            <a:endParaRPr sz="1600"/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(123);</a:t>
            </a:r>
            <a:endParaRPr/>
          </a:p>
        </p:txBody>
      </p:sp>
      <p:sp>
        <p:nvSpPr>
          <p:cNvPr id="176" name="Google Shape;176;p27"/>
          <p:cNvSpPr txBox="1"/>
          <p:nvPr>
            <p:ph idx="1" type="body"/>
          </p:nvPr>
        </p:nvSpPr>
        <p:spPr>
          <a:xfrm>
            <a:off x="378375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הפקודה הזאת אומרת לחכות 123 מילישניות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1000 מילישניות היא שניה שלמה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כמה שניות נחכה אם רשום: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(500);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קוד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4783325" y="1005728"/>
            <a:ext cx="4155600" cy="4028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// זאת הערה</a:t>
            </a:r>
            <a:endParaRPr sz="140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// אתחול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{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(9600); // מגדיר את קצב התקשורת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(13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// OUTPUT מגדיר את פורט 13 כ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</a:t>
            </a: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// בחלק הזה הקוד העיקרי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(13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 </a:t>
            </a:r>
            <a:r>
              <a:rPr lang="en" sz="140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 // מדליק נורה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(1000)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; //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מחכה אלף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מילישניות,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זה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שניה אחת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(13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 // מכבה נורה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(1000); // מחכה שניה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E4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8300" y="983674"/>
            <a:ext cx="3533650" cy="323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לזכרו להכניס את הקוד לארדואינו!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90" name="Google Shape;190;p29"/>
          <p:cNvGrpSpPr/>
          <p:nvPr/>
        </p:nvGrpSpPr>
        <p:grpSpPr>
          <a:xfrm>
            <a:off x="4572000" y="1576700"/>
            <a:ext cx="4101901" cy="2309499"/>
            <a:chOff x="4572000" y="2834000"/>
            <a:chExt cx="4101901" cy="2309499"/>
          </a:xfrm>
        </p:grpSpPr>
        <p:pic>
          <p:nvPicPr>
            <p:cNvPr id="191" name="Google Shape;191;p29"/>
            <p:cNvPicPr preferRelativeResize="0"/>
            <p:nvPr/>
          </p:nvPicPr>
          <p:blipFill rotWithShape="1">
            <a:blip r:embed="rId3">
              <a:alphaModFix/>
            </a:blip>
            <a:srcRect b="55098" l="0" r="0" t="0"/>
            <a:stretch/>
          </p:blipFill>
          <p:spPr>
            <a:xfrm>
              <a:off x="4572000" y="2834000"/>
              <a:ext cx="4101901" cy="230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" name="Google Shape;192;p29"/>
            <p:cNvSpPr/>
            <p:nvPr/>
          </p:nvSpPr>
          <p:spPr>
            <a:xfrm>
              <a:off x="4949625" y="3261525"/>
              <a:ext cx="516600" cy="438300"/>
            </a:xfrm>
            <a:prstGeom prst="ellipse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29"/>
          <p:cNvSpPr txBox="1"/>
          <p:nvPr/>
        </p:nvSpPr>
        <p:spPr>
          <a:xfrm>
            <a:off x="778825" y="2095048"/>
            <a:ext cx="3338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</a:rPr>
              <a:t>עכשיו לחצו על הכפתורים </a:t>
            </a:r>
            <a:r>
              <a:rPr lang="en">
                <a:solidFill>
                  <a:schemeClr val="dk2"/>
                </a:solidFill>
              </a:rPr>
              <a:t>האלה</a:t>
            </a:r>
            <a:endParaRPr/>
          </a:p>
        </p:txBody>
      </p:sp>
      <p:sp>
        <p:nvSpPr>
          <p:cNvPr id="194" name="Google Shape;194;p29"/>
          <p:cNvSpPr/>
          <p:nvPr/>
        </p:nvSpPr>
        <p:spPr>
          <a:xfrm>
            <a:off x="4433025" y="2004225"/>
            <a:ext cx="516600" cy="438300"/>
          </a:xfrm>
          <a:prstGeom prst="ellipse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9"/>
          <p:cNvSpPr/>
          <p:nvPr/>
        </p:nvSpPr>
        <p:spPr>
          <a:xfrm>
            <a:off x="4217700" y="2496001"/>
            <a:ext cx="337980" cy="1390221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96" name="Google Shape;196;p29"/>
          <p:cNvSpPr/>
          <p:nvPr/>
        </p:nvSpPr>
        <p:spPr>
          <a:xfrm flipH="1">
            <a:off x="5241445" y="2496000"/>
            <a:ext cx="337980" cy="1604200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97" name="Google Shape;197;p29"/>
          <p:cNvSpPr txBox="1"/>
          <p:nvPr/>
        </p:nvSpPr>
        <p:spPr>
          <a:xfrm>
            <a:off x="3817300" y="3785875"/>
            <a:ext cx="8001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1)בדיקה</a:t>
            </a:r>
            <a:endParaRPr/>
          </a:p>
        </p:txBody>
      </p:sp>
      <p:sp>
        <p:nvSpPr>
          <p:cNvPr id="198" name="Google Shape;198;p29"/>
          <p:cNvSpPr txBox="1"/>
          <p:nvPr/>
        </p:nvSpPr>
        <p:spPr>
          <a:xfrm>
            <a:off x="5308200" y="3953875"/>
            <a:ext cx="842700" cy="10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2)להכניס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לארדואינו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365760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ז</a:t>
            </a:r>
            <a:r>
              <a:rPr lang="en"/>
              <a:t>ו</a:t>
            </a:r>
            <a:r>
              <a:rPr lang="en"/>
              <a:t>כרים את הרמזור?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6190800" y="534850"/>
            <a:ext cx="2641500" cy="42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(9600);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(13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(12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(11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3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(11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(1000);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(11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(12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(1000);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(12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(13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(1000);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3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(13</a:t>
            </a:r>
            <a:r>
              <a:rPr lang="en" sz="13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3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13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r>
              <a:rPr lang="en" sz="1300">
                <a:latin typeface="Arial"/>
                <a:ea typeface="Arial"/>
                <a:cs typeface="Arial"/>
                <a:sym typeface="Arial"/>
              </a:rPr>
              <a:t>}</a:t>
            </a:r>
            <a:endParaRPr sz="1300">
              <a:solidFill>
                <a:srgbClr val="00979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50" y="1017725"/>
            <a:ext cx="5394149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משתנים של Arduino</a:t>
            </a:r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משתנה הוא מקום בזיכרון </a:t>
            </a:r>
            <a:r>
              <a:rPr lang="en"/>
              <a:t>של</a:t>
            </a:r>
            <a:r>
              <a:rPr lang="en"/>
              <a:t> </a:t>
            </a:r>
            <a:r>
              <a:rPr lang="en"/>
              <a:t>הארדואינו, שבו נשמר </a:t>
            </a:r>
            <a:r>
              <a:rPr lang="en"/>
              <a:t>מספר או אות.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התוכנה מגדירה לארדואינו מה לשמור וכמה מקום לתת לזה, כמה סוגי משתנים: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1"/>
          <p:cNvSpPr txBox="1"/>
          <p:nvPr/>
        </p:nvSpPr>
        <p:spPr>
          <a:xfrm>
            <a:off x="476250" y="2451100"/>
            <a:ext cx="3781500" cy="15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char</a:t>
            </a:r>
            <a:r>
              <a:rPr lang="en">
                <a:solidFill>
                  <a:schemeClr val="dk2"/>
                </a:solidFill>
              </a:rPr>
              <a:t>		1 byte		אות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int		2 byte		מספר שלם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float		4 byte		מספר לא שלם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דוגמאות</a:t>
            </a:r>
            <a:endParaRPr/>
          </a:p>
        </p:txBody>
      </p:sp>
      <p:sp>
        <p:nvSpPr>
          <p:cNvPr id="218" name="Google Shape;218;p3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nt a = 12;				float f = 2.5;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nt b = -15;				float pi = </a:t>
            </a:r>
            <a:r>
              <a:rPr lang="en"/>
              <a:t>3.1415;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nt a2 = a;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har ch1 = ‘c’;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</a:t>
            </a:r>
            <a:r>
              <a:rPr lang="en"/>
              <a:t>har c = ‘A’;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();</a:t>
            </a:r>
            <a:endParaRPr/>
          </a:p>
        </p:txBody>
      </p:sp>
      <p:sp>
        <p:nvSpPr>
          <p:cNvPr id="224" name="Google Shape;224;p33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Serial יודע לתקשר עם המחשב. הוא יודע גם לקרוא ממנו.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באמצעות הפקודה: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();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מתבצעת קריאה של char לארדואינו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בתוכנה הבאה הארדואינו קורא אות אחת (char) ומחזירה וכותבת אותו חזרה לטרמינל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דוגמה</a:t>
            </a:r>
            <a:endParaRPr/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2340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c;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(9600);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c 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println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(c);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(1000);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משימה</a:t>
            </a:r>
            <a:endParaRPr/>
          </a:p>
        </p:txBody>
      </p:sp>
      <p:sp>
        <p:nvSpPr>
          <p:cNvPr id="236" name="Google Shape;236;p35"/>
          <p:cNvSpPr txBox="1"/>
          <p:nvPr>
            <p:ph idx="1" type="body"/>
          </p:nvPr>
        </p:nvSpPr>
        <p:spPr>
          <a:xfrm>
            <a:off x="311700" y="1234075"/>
            <a:ext cx="8520600" cy="3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קחו את הקוד הזה 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וגרמו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לו לכתוב את האות שארדואינו קיבל ואת האות הבאה.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c;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(9600);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" sz="16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oid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c 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6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println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(c);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6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600">
                <a:latin typeface="Arial"/>
                <a:ea typeface="Arial"/>
                <a:cs typeface="Arial"/>
                <a:sym typeface="Arial"/>
              </a:rPr>
              <a:t>(1000);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