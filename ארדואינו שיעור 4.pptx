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6ed12b915a_0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6ed12b915a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6ed12b915a_0_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6ed12b915a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6ed12b915a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6ed12b915a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6ed12b915a_0_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6ed12b915a_0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4286250" y="0"/>
            <a:ext cx="72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4358475" y="0"/>
            <a:ext cx="38532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chemeClr val="accent5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 rot="5400000">
            <a:off x="4550700" y="-498600"/>
            <a:ext cx="42600" cy="845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5"/>
          <p:cNvSpPr txBox="1"/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>
            <a:off x="3117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" name="Google Shape;71;p17"/>
          <p:cNvSpPr txBox="1"/>
          <p:nvPr>
            <p:ph idx="2" type="body"/>
          </p:nvPr>
        </p:nvSpPr>
        <p:spPr>
          <a:xfrm>
            <a:off x="48324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2" name="Google Shape;72;p1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accent3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2" name="Google Shape;82;p2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5" name="Google Shape;85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21"/>
          <p:cNvSpPr txBox="1"/>
          <p:nvPr>
            <p:ph type="title"/>
          </p:nvPr>
        </p:nvSpPr>
        <p:spPr>
          <a:xfrm>
            <a:off x="265500" y="10816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7" name="Google Shape;87;p21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8" name="Google Shape;88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lt1"/>
                </a:highlight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89" name="Google Shape;89;p2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highlight>
                  <a:schemeClr val="dk1"/>
                </a:highlight>
              </a:defRPr>
            </a:lvl1pPr>
          </a:lstStyle>
          <a:p/>
        </p:txBody>
      </p:sp>
      <p:sp>
        <p:nvSpPr>
          <p:cNvPr id="92" name="Google Shape;92;p2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 txBox="1"/>
          <p:nvPr>
            <p:ph hasCustomPrompt="1" type="title"/>
          </p:nvPr>
        </p:nvSpPr>
        <p:spPr>
          <a:xfrm>
            <a:off x="311700" y="999925"/>
            <a:ext cx="8520600" cy="21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95" name="Google Shape;95;p23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dk1"/>
                </a:highlight>
              </a:defRPr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96" name="Google Shape;96;p2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pop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  <a:defRPr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5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ארדואינו שיעור 4</a:t>
            </a:r>
            <a:endParaRPr/>
          </a:p>
        </p:txBody>
      </p:sp>
      <p:sp>
        <p:nvSpPr>
          <p:cNvPr id="104" name="Google Shape;104;p25"/>
          <p:cNvSpPr txBox="1"/>
          <p:nvPr>
            <p:ph idx="1" type="subTitle"/>
          </p:nvPr>
        </p:nvSpPr>
        <p:spPr>
          <a:xfrm>
            <a:off x="3889650" y="3516350"/>
            <a:ext cx="49101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כניסה ויציאה אנלוגית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קריאת אנלוגית</a:t>
            </a:r>
            <a:endParaRPr/>
          </a:p>
        </p:txBody>
      </p:sp>
      <p:sp>
        <p:nvSpPr>
          <p:cNvPr id="110" name="Google Shape;110;p26"/>
          <p:cNvSpPr txBox="1"/>
          <p:nvPr>
            <p:ph idx="1" type="body"/>
          </p:nvPr>
        </p:nvSpPr>
        <p:spPr>
          <a:xfrm>
            <a:off x="311700" y="122532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קריאה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 v </a:t>
            </a:r>
            <a:r>
              <a:rPr lang="en-GB" sz="14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 0;</a:t>
            </a:r>
            <a:br>
              <a:rPr lang="en-GB" sz="1400">
                <a:latin typeface="Arial"/>
                <a:ea typeface="Arial"/>
                <a:cs typeface="Arial"/>
                <a:sym typeface="Arial"/>
              </a:rPr>
            </a:br>
            <a:br>
              <a:rPr lang="en-GB" sz="1400">
                <a:latin typeface="Arial"/>
                <a:ea typeface="Arial"/>
                <a:cs typeface="Arial"/>
                <a:sym typeface="Arial"/>
              </a:rPr>
            </a:br>
            <a:r>
              <a:rPr lang="en-GB" sz="14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400">
                <a:solidFill>
                  <a:srgbClr val="5E6D03"/>
                </a:solidFill>
                <a:latin typeface="Arial"/>
                <a:ea typeface="Arial"/>
                <a:cs typeface="Arial"/>
                <a:sym typeface="Arial"/>
              </a:rPr>
              <a:t>setup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()</a:t>
            </a:r>
            <a:br>
              <a:rPr lang="en-GB" sz="1400">
                <a:latin typeface="Arial"/>
                <a:ea typeface="Arial"/>
                <a:cs typeface="Arial"/>
                <a:sym typeface="Arial"/>
              </a:rPr>
            </a:br>
            <a:r>
              <a:rPr lang="en-GB" sz="1400">
                <a:latin typeface="Arial"/>
                <a:ea typeface="Arial"/>
                <a:cs typeface="Arial"/>
                <a:sym typeface="Arial"/>
              </a:rPr>
              <a:t>{</a:t>
            </a:r>
            <a:br>
              <a:rPr lang="en-GB" sz="1400">
                <a:latin typeface="Arial"/>
                <a:ea typeface="Arial"/>
                <a:cs typeface="Arial"/>
                <a:sym typeface="Arial"/>
              </a:rPr>
            </a:br>
            <a:r>
              <a:rPr lang="en-GB" sz="14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GB" sz="14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pinMode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(A0</a:t>
            </a:r>
            <a:r>
              <a:rPr lang="en-GB" sz="14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4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);</a:t>
            </a:r>
            <a:br>
              <a:rPr lang="en-GB" sz="1400">
                <a:latin typeface="Arial"/>
                <a:ea typeface="Arial"/>
                <a:cs typeface="Arial"/>
                <a:sym typeface="Arial"/>
              </a:rPr>
            </a:br>
            <a:r>
              <a:rPr lang="en-GB" sz="1400">
                <a:latin typeface="Arial"/>
                <a:ea typeface="Arial"/>
                <a:cs typeface="Arial"/>
                <a:sym typeface="Arial"/>
              </a:rPr>
              <a:t>}</a:t>
            </a:r>
            <a:br>
              <a:rPr lang="en-GB" sz="1400">
                <a:latin typeface="Arial"/>
                <a:ea typeface="Arial"/>
                <a:cs typeface="Arial"/>
                <a:sym typeface="Arial"/>
              </a:rPr>
            </a:br>
            <a:br>
              <a:rPr lang="en-GB" sz="1400">
                <a:latin typeface="Arial"/>
                <a:ea typeface="Arial"/>
                <a:cs typeface="Arial"/>
                <a:sym typeface="Arial"/>
              </a:rPr>
            </a:br>
            <a:r>
              <a:rPr lang="en-GB" sz="14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400">
                <a:solidFill>
                  <a:srgbClr val="5E6D03"/>
                </a:solidFill>
                <a:latin typeface="Arial"/>
                <a:ea typeface="Arial"/>
                <a:cs typeface="Arial"/>
                <a:sym typeface="Arial"/>
              </a:rPr>
              <a:t>loop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()</a:t>
            </a:r>
            <a:br>
              <a:rPr lang="en-GB" sz="1400">
                <a:latin typeface="Arial"/>
                <a:ea typeface="Arial"/>
                <a:cs typeface="Arial"/>
                <a:sym typeface="Arial"/>
              </a:rPr>
            </a:br>
            <a:r>
              <a:rPr lang="en-GB" sz="1400">
                <a:latin typeface="Arial"/>
                <a:ea typeface="Arial"/>
                <a:cs typeface="Arial"/>
                <a:sym typeface="Arial"/>
              </a:rPr>
              <a:t>{</a:t>
            </a:r>
            <a:br>
              <a:rPr lang="en-GB" sz="1400">
                <a:latin typeface="Arial"/>
                <a:ea typeface="Arial"/>
                <a:cs typeface="Arial"/>
                <a:sym typeface="Arial"/>
              </a:rPr>
            </a:br>
            <a:r>
              <a:rPr lang="en-GB" sz="1400">
                <a:latin typeface="Arial"/>
                <a:ea typeface="Arial"/>
                <a:cs typeface="Arial"/>
                <a:sym typeface="Arial"/>
              </a:rPr>
              <a:t>  v </a:t>
            </a:r>
            <a:r>
              <a:rPr lang="en-GB" sz="14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4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analogRead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(A0);</a:t>
            </a:r>
            <a:br>
              <a:rPr lang="en-GB" sz="1400">
                <a:latin typeface="Arial"/>
                <a:ea typeface="Arial"/>
                <a:cs typeface="Arial"/>
                <a:sym typeface="Arial"/>
              </a:rPr>
            </a:br>
            <a:r>
              <a:rPr lang="en-GB" sz="1400">
                <a:latin typeface="Arial"/>
                <a:ea typeface="Arial"/>
                <a:cs typeface="Arial"/>
                <a:sym typeface="Arial"/>
              </a:rPr>
              <a:t>}</a:t>
            </a:r>
            <a:endParaRPr sz="1400">
              <a:solidFill>
                <a:srgbClr val="D354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רק מפורטים: A0, A1, A2, A3, A4, A5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כתיבה אנלוגית</a:t>
            </a:r>
            <a:endParaRPr/>
          </a:p>
        </p:txBody>
      </p:sp>
      <p:sp>
        <p:nvSpPr>
          <p:cNvPr id="116" name="Google Shape;116;p27"/>
          <p:cNvSpPr txBox="1"/>
          <p:nvPr>
            <p:ph idx="1" type="body"/>
          </p:nvPr>
        </p:nvSpPr>
        <p:spPr>
          <a:xfrm>
            <a:off x="311700" y="122532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כתיבה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200">
                <a:solidFill>
                  <a:srgbClr val="5E6D03"/>
                </a:solidFill>
                <a:latin typeface="Arial"/>
                <a:ea typeface="Arial"/>
                <a:cs typeface="Arial"/>
                <a:sym typeface="Arial"/>
              </a:rPr>
              <a:t>setup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()</a:t>
            </a:r>
            <a:br>
              <a:rPr lang="en-GB" sz="1200">
                <a:latin typeface="Arial"/>
                <a:ea typeface="Arial"/>
                <a:cs typeface="Arial"/>
                <a:sym typeface="Arial"/>
              </a:rPr>
            </a:br>
            <a:r>
              <a:rPr lang="en-GB" sz="1200">
                <a:latin typeface="Arial"/>
                <a:ea typeface="Arial"/>
                <a:cs typeface="Arial"/>
                <a:sym typeface="Arial"/>
              </a:rPr>
              <a:t>{</a:t>
            </a:r>
            <a:br>
              <a:rPr lang="en-GB" sz="1200">
                <a:latin typeface="Arial"/>
                <a:ea typeface="Arial"/>
                <a:cs typeface="Arial"/>
                <a:sym typeface="Arial"/>
              </a:rPr>
            </a:br>
            <a:r>
              <a:rPr lang="en-GB" sz="12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GB" sz="12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pinMode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(3</a:t>
            </a:r>
            <a:r>
              <a:rPr lang="en-GB" sz="12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2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);</a:t>
            </a:r>
            <a:br>
              <a:rPr lang="en-GB" sz="1200">
                <a:latin typeface="Arial"/>
                <a:ea typeface="Arial"/>
                <a:cs typeface="Arial"/>
                <a:sym typeface="Arial"/>
              </a:rPr>
            </a:br>
            <a:r>
              <a:rPr lang="en-GB" sz="1200">
                <a:latin typeface="Arial"/>
                <a:ea typeface="Arial"/>
                <a:cs typeface="Arial"/>
                <a:sym typeface="Arial"/>
              </a:rPr>
              <a:t>}</a:t>
            </a:r>
            <a:br>
              <a:rPr lang="en-GB" sz="1200">
                <a:latin typeface="Arial"/>
                <a:ea typeface="Arial"/>
                <a:cs typeface="Arial"/>
                <a:sym typeface="Arial"/>
              </a:rPr>
            </a:br>
            <a:br>
              <a:rPr lang="en-GB" sz="1200">
                <a:latin typeface="Arial"/>
                <a:ea typeface="Arial"/>
                <a:cs typeface="Arial"/>
                <a:sym typeface="Arial"/>
              </a:rPr>
            </a:br>
            <a:r>
              <a:rPr lang="en-GB" sz="12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200">
                <a:solidFill>
                  <a:srgbClr val="5E6D03"/>
                </a:solidFill>
                <a:latin typeface="Arial"/>
                <a:ea typeface="Arial"/>
                <a:cs typeface="Arial"/>
                <a:sym typeface="Arial"/>
              </a:rPr>
              <a:t>loop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()</a:t>
            </a:r>
            <a:br>
              <a:rPr lang="en-GB" sz="1200">
                <a:latin typeface="Arial"/>
                <a:ea typeface="Arial"/>
                <a:cs typeface="Arial"/>
                <a:sym typeface="Arial"/>
              </a:rPr>
            </a:br>
            <a:r>
              <a:rPr lang="en-GB" sz="1200">
                <a:latin typeface="Arial"/>
                <a:ea typeface="Arial"/>
                <a:cs typeface="Arial"/>
                <a:sym typeface="Arial"/>
              </a:rPr>
              <a:t>{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GB" sz="12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analogWrite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(3</a:t>
            </a:r>
            <a:r>
              <a:rPr lang="en-GB" sz="12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255);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}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רק פורטים  שמסומנים ב~ כלומר: 3, 5, 6,9, 10, 11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Joy Stick</a:t>
            </a:r>
            <a:endParaRPr/>
          </a:p>
        </p:txBody>
      </p:sp>
      <p:sp>
        <p:nvSpPr>
          <p:cNvPr id="122" name="Google Shape;122;p28"/>
          <p:cNvSpPr txBox="1"/>
          <p:nvPr>
            <p:ph idx="1" type="body"/>
          </p:nvPr>
        </p:nvSpPr>
        <p:spPr>
          <a:xfrm>
            <a:off x="4767175" y="303375"/>
            <a:ext cx="4065000" cy="42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int analogInPinX = A0;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int analogInPinY = A1;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int readValueX;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int readValueY;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int mapValueX;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int mapValueY;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int led1  = 9;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int led2  = 10;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void setup() {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  Serial.begin(9600);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 }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void loop() { 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  readValueX= analogRead(analogInPinX);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  mapValueX = map(readValueX, 0, 1023, 0, 255);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  Serial.println(readValueX);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  analogWrite(led1,mapValueX);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  readValueY= analogRead(analogInPinY);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  mapValueY = map(readValueY, 0, 1023, 0, 255);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  Serial.println(readValueY);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  analogWrite(led2,mapValueY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);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  delay(2); 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}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8825" y="823075"/>
            <a:ext cx="2455424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op">
  <a:themeElements>
    <a:clrScheme name="Pop">
      <a:dk1>
        <a:srgbClr val="F8E71C"/>
      </a:dk1>
      <a:lt1>
        <a:srgbClr val="FFFFFF"/>
      </a:lt1>
      <a:dk2>
        <a:srgbClr val="000000"/>
      </a:dk2>
      <a:lt2>
        <a:srgbClr val="D9D9D9"/>
      </a:lt2>
      <a:accent1>
        <a:srgbClr val="666666"/>
      </a:accent1>
      <a:accent2>
        <a:srgbClr val="483165"/>
      </a:accent2>
      <a:accent3>
        <a:srgbClr val="EB1E95"/>
      </a:accent3>
      <a:accent4>
        <a:srgbClr val="0F9D58"/>
      </a:accent4>
      <a:accent5>
        <a:srgbClr val="01AFD1"/>
      </a:accent5>
      <a:accent6>
        <a:srgbClr val="9C27B0"/>
      </a:accent6>
      <a:hlink>
        <a:srgbClr val="01AFD1"/>
      </a:hlink>
      <a:folHlink>
        <a:srgbClr val="01AF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