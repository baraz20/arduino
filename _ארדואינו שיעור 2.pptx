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</p:sldIdLst>
  <p:sldSz cy="5143500" cx="9144000"/>
  <p:notesSz cx="6858000" cy="9144000"/>
  <p:embeddedFontLst>
    <p:embeddedFont>
      <p:font typeface="Playfair Display"/>
      <p:regular r:id="rId27"/>
      <p:bold r:id="rId28"/>
      <p:italic r:id="rId29"/>
      <p:boldItalic r:id="rId30"/>
    </p:embeddedFont>
    <p:embeddedFont>
      <p:font typeface="Montserrat"/>
      <p:regular r:id="rId31"/>
      <p:bold r:id="rId32"/>
      <p:italic r:id="rId33"/>
      <p:boldItalic r:id="rId34"/>
    </p:embeddedFont>
    <p:embeddedFont>
      <p:font typeface="Oswald"/>
      <p:regular r:id="rId35"/>
      <p:bold r:id="rId3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font" Target="fonts/PlayfairDisplay-bold.fntdata"/><Relationship Id="rId27" Type="http://schemas.openxmlformats.org/officeDocument/2006/relationships/font" Target="fonts/PlayfairDisplay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font" Target="fonts/PlayfairDisplay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font" Target="fonts/Montserrat-regular.fntdata"/><Relationship Id="rId30" Type="http://schemas.openxmlformats.org/officeDocument/2006/relationships/font" Target="fonts/PlayfairDisplay-boldItalic.fntdata"/><Relationship Id="rId11" Type="http://schemas.openxmlformats.org/officeDocument/2006/relationships/slide" Target="slides/slide6.xml"/><Relationship Id="rId33" Type="http://schemas.openxmlformats.org/officeDocument/2006/relationships/font" Target="fonts/Montserrat-italic.fntdata"/><Relationship Id="rId10" Type="http://schemas.openxmlformats.org/officeDocument/2006/relationships/slide" Target="slides/slide5.xml"/><Relationship Id="rId32" Type="http://schemas.openxmlformats.org/officeDocument/2006/relationships/font" Target="fonts/Montserrat-bold.fntdata"/><Relationship Id="rId13" Type="http://schemas.openxmlformats.org/officeDocument/2006/relationships/slide" Target="slides/slide8.xml"/><Relationship Id="rId35" Type="http://schemas.openxmlformats.org/officeDocument/2006/relationships/font" Target="fonts/Oswald-regular.fntdata"/><Relationship Id="rId12" Type="http://schemas.openxmlformats.org/officeDocument/2006/relationships/slide" Target="slides/slide7.xml"/><Relationship Id="rId34" Type="http://schemas.openxmlformats.org/officeDocument/2006/relationships/font" Target="fonts/Montserrat-boldItalic.fntdata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36" Type="http://schemas.openxmlformats.org/officeDocument/2006/relationships/font" Target="fonts/Oswald-bold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47c2362b9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47c2362b9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47c9bf6da1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47c9bf6da1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4826d2b8f6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4826d2b8f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4826d2b8f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4826d2b8f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4826d2b8f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4826d2b8f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47c9bf6da1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47c9bf6da1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4826d2b8f6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4826d2b8f6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4826d2b8f6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4826d2b8f6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47c9bf6da1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47c9bf6da1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48313ab05d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48313ab05d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4826d2b8f6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4826d2b8f6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4826d2b8f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4826d2b8f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48313ab05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48313ab05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4826d2b8f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4826d2b8f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4826d2b8f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4826d2b8f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47c9bf6da1_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47c9bf6da1_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4826d2b8f6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4826d2b8f6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493cc96cea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493cc96cea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4826d2b8f6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4826d2b8f6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6ecf049d6f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6ecf049d6f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chemeClr val="accent5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9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ארדואינו שיעור 2</a:t>
            </a:r>
            <a:endParaRPr/>
          </a:p>
        </p:txBody>
      </p:sp>
      <p:sp>
        <p:nvSpPr>
          <p:cNvPr id="59" name="Google Shape;59;p13"/>
          <p:cNvSpPr txBox="1"/>
          <p:nvPr>
            <p:ph idx="1" type="subTitle"/>
          </p:nvPr>
        </p:nvSpPr>
        <p:spPr>
          <a:xfrm>
            <a:off x="3889650" y="3516350"/>
            <a:ext cx="4910100" cy="577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טובי למברג וטל ברעז 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תזכורת</a:t>
            </a:r>
            <a:endParaRPr/>
          </a:p>
        </p:txBody>
      </p:sp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0175" y="1252538"/>
            <a:ext cx="6648450" cy="2943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חיבור הארדואינו למחשב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1275" y="1234075"/>
            <a:ext cx="3832500" cy="200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1700" y="1234075"/>
            <a:ext cx="4457400" cy="152760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0" y="3234775"/>
            <a:ext cx="4312500" cy="14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נחבר את הIDE לUSB הנכון - 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זה שרשום בוא בסוגריים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 </a:t>
            </a: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Arduino/Genuino Uno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sp>
        <p:nvSpPr>
          <p:cNvPr id="76" name="Google Shape;76;p15"/>
          <p:cNvSpPr txBox="1"/>
          <p:nvPr/>
        </p:nvSpPr>
        <p:spPr>
          <a:xfrm>
            <a:off x="5001275" y="3234325"/>
            <a:ext cx="3713700" cy="152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נגדיר את הבקר הנכון -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Arduino/Genuino Uno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בדיקת הקוד</a:t>
            </a:r>
            <a:endParaRPr/>
          </a:p>
        </p:txBody>
      </p:sp>
      <p:sp>
        <p:nvSpPr>
          <p:cNvPr id="82" name="Google Shape;82;p1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83" name="Google Shape;83;p16"/>
          <p:cNvGrpSpPr/>
          <p:nvPr/>
        </p:nvGrpSpPr>
        <p:grpSpPr>
          <a:xfrm>
            <a:off x="4436425" y="1605275"/>
            <a:ext cx="4237476" cy="2309499"/>
            <a:chOff x="4436425" y="2834000"/>
            <a:chExt cx="4237476" cy="2309499"/>
          </a:xfrm>
        </p:grpSpPr>
        <p:pic>
          <p:nvPicPr>
            <p:cNvPr id="84" name="Google Shape;84;p16"/>
            <p:cNvPicPr preferRelativeResize="0"/>
            <p:nvPr/>
          </p:nvPicPr>
          <p:blipFill rotWithShape="1">
            <a:blip r:embed="rId3">
              <a:alphaModFix/>
            </a:blip>
            <a:srcRect b="55098" l="0" r="0" t="0"/>
            <a:stretch/>
          </p:blipFill>
          <p:spPr>
            <a:xfrm>
              <a:off x="4572000" y="2834000"/>
              <a:ext cx="4101901" cy="2309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5" name="Google Shape;85;p16"/>
            <p:cNvSpPr/>
            <p:nvPr/>
          </p:nvSpPr>
          <p:spPr>
            <a:xfrm>
              <a:off x="4436425" y="3280575"/>
              <a:ext cx="516600" cy="438300"/>
            </a:xfrm>
            <a:prstGeom prst="ellipse">
              <a:avLst/>
            </a:prstGeom>
            <a:noFill/>
            <a:ln cap="flat" cmpd="sng" w="2857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6" name="Google Shape;86;p16"/>
          <p:cNvSpPr/>
          <p:nvPr/>
        </p:nvSpPr>
        <p:spPr>
          <a:xfrm>
            <a:off x="3883976" y="2433325"/>
            <a:ext cx="552445" cy="323850"/>
          </a:xfrm>
          <a:custGeom>
            <a:rect b="b" l="l" r="r" t="t"/>
            <a:pathLst>
              <a:path extrusionOk="0" h="19050" w="24765">
                <a:moveTo>
                  <a:pt x="0" y="19050"/>
                </a:moveTo>
                <a:cubicBezTo>
                  <a:pt x="4128" y="15875"/>
                  <a:pt x="20638" y="3175"/>
                  <a:pt x="24765" y="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87" name="Google Shape;87;p16"/>
          <p:cNvSpPr txBox="1"/>
          <p:nvPr/>
        </p:nvSpPr>
        <p:spPr>
          <a:xfrm>
            <a:off x="454975" y="2095048"/>
            <a:ext cx="33381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לחצו על הכפתור שבעיגול</a:t>
            </a:r>
            <a:endParaRPr>
              <a:solidFill>
                <a:schemeClr val="dk2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</a:rPr>
              <a:t>הכפתור הזה בודק שהקוד נכון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הכנסה של התוכנית לארדואינו</a:t>
            </a:r>
            <a:endParaRPr/>
          </a:p>
        </p:txBody>
      </p:sp>
      <p:sp>
        <p:nvSpPr>
          <p:cNvPr id="93" name="Google Shape;93;p17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94" name="Google Shape;94;p17"/>
          <p:cNvGrpSpPr/>
          <p:nvPr/>
        </p:nvGrpSpPr>
        <p:grpSpPr>
          <a:xfrm>
            <a:off x="4572000" y="1605275"/>
            <a:ext cx="4101901" cy="2309499"/>
            <a:chOff x="4572000" y="2834000"/>
            <a:chExt cx="4101901" cy="2309499"/>
          </a:xfrm>
        </p:grpSpPr>
        <p:pic>
          <p:nvPicPr>
            <p:cNvPr id="95" name="Google Shape;95;p17"/>
            <p:cNvPicPr preferRelativeResize="0"/>
            <p:nvPr/>
          </p:nvPicPr>
          <p:blipFill rotWithShape="1">
            <a:blip r:embed="rId3">
              <a:alphaModFix/>
            </a:blip>
            <a:srcRect b="55098" l="0" r="0" t="0"/>
            <a:stretch/>
          </p:blipFill>
          <p:spPr>
            <a:xfrm>
              <a:off x="4572000" y="2834000"/>
              <a:ext cx="4101901" cy="2309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6" name="Google Shape;96;p17"/>
            <p:cNvSpPr/>
            <p:nvPr/>
          </p:nvSpPr>
          <p:spPr>
            <a:xfrm>
              <a:off x="4817425" y="3232950"/>
              <a:ext cx="516600" cy="438300"/>
            </a:xfrm>
            <a:prstGeom prst="ellipse">
              <a:avLst/>
            </a:prstGeom>
            <a:noFill/>
            <a:ln cap="flat" cmpd="sng" w="2857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" name="Google Shape;97;p17"/>
          <p:cNvSpPr/>
          <p:nvPr/>
        </p:nvSpPr>
        <p:spPr>
          <a:xfrm>
            <a:off x="4017325" y="2309500"/>
            <a:ext cx="847706" cy="262271"/>
          </a:xfrm>
          <a:custGeom>
            <a:rect b="b" l="l" r="r" t="t"/>
            <a:pathLst>
              <a:path extrusionOk="0" h="19050" w="24765">
                <a:moveTo>
                  <a:pt x="0" y="19050"/>
                </a:moveTo>
                <a:cubicBezTo>
                  <a:pt x="4128" y="15875"/>
                  <a:pt x="20638" y="3175"/>
                  <a:pt x="24765" y="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98" name="Google Shape;98;p17"/>
          <p:cNvSpPr txBox="1"/>
          <p:nvPr/>
        </p:nvSpPr>
        <p:spPr>
          <a:xfrm>
            <a:off x="778825" y="2095048"/>
            <a:ext cx="3338100" cy="95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עכשיו לחצו על הכפתור השני</a:t>
            </a:r>
            <a:endParaRPr>
              <a:solidFill>
                <a:schemeClr val="dk2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chemeClr val="dk2"/>
                </a:solidFill>
              </a:rPr>
              <a:t>הכפתור הזה מכניס את הקוד לארדואינו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פתיחת ה </a:t>
            </a:r>
            <a:r>
              <a:rPr lang="en"/>
              <a:t>Serial port</a:t>
            </a:r>
            <a:endParaRPr/>
          </a:p>
        </p:txBody>
      </p:sp>
      <p:sp>
        <p:nvSpPr>
          <p:cNvPr id="104" name="Google Shape;104;p1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grpSp>
        <p:nvGrpSpPr>
          <p:cNvPr id="105" name="Google Shape;105;p18"/>
          <p:cNvGrpSpPr/>
          <p:nvPr/>
        </p:nvGrpSpPr>
        <p:grpSpPr>
          <a:xfrm>
            <a:off x="4572000" y="1605275"/>
            <a:ext cx="4101901" cy="2309499"/>
            <a:chOff x="4572000" y="2834000"/>
            <a:chExt cx="4101901" cy="2309499"/>
          </a:xfrm>
        </p:grpSpPr>
        <p:pic>
          <p:nvPicPr>
            <p:cNvPr id="106" name="Google Shape;106;p18"/>
            <p:cNvPicPr preferRelativeResize="0"/>
            <p:nvPr/>
          </p:nvPicPr>
          <p:blipFill rotWithShape="1">
            <a:blip r:embed="rId3">
              <a:alphaModFix/>
            </a:blip>
            <a:srcRect b="55098" l="0" r="0" t="0"/>
            <a:stretch/>
          </p:blipFill>
          <p:spPr>
            <a:xfrm>
              <a:off x="4572000" y="2834000"/>
              <a:ext cx="4101901" cy="2309499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7" name="Google Shape;107;p18"/>
            <p:cNvSpPr/>
            <p:nvPr/>
          </p:nvSpPr>
          <p:spPr>
            <a:xfrm>
              <a:off x="8157300" y="3261525"/>
              <a:ext cx="516600" cy="438300"/>
            </a:xfrm>
            <a:prstGeom prst="ellipse">
              <a:avLst/>
            </a:prstGeom>
            <a:noFill/>
            <a:ln cap="flat" cmpd="sng" w="28575">
              <a:solidFill>
                <a:srgbClr val="00FF0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18"/>
          <p:cNvSpPr/>
          <p:nvPr/>
        </p:nvSpPr>
        <p:spPr>
          <a:xfrm>
            <a:off x="4017325" y="2271401"/>
            <a:ext cx="4000476" cy="300371"/>
          </a:xfrm>
          <a:custGeom>
            <a:rect b="b" l="l" r="r" t="t"/>
            <a:pathLst>
              <a:path extrusionOk="0" h="19050" w="24765">
                <a:moveTo>
                  <a:pt x="0" y="19050"/>
                </a:moveTo>
                <a:cubicBezTo>
                  <a:pt x="4128" y="15875"/>
                  <a:pt x="20638" y="3175"/>
                  <a:pt x="24765" y="0"/>
                </a:cubicBezTo>
              </a:path>
            </a:pathLst>
          </a:cu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sp>
      <p:sp>
        <p:nvSpPr>
          <p:cNvPr id="109" name="Google Shape;109;p18"/>
          <p:cNvSpPr txBox="1"/>
          <p:nvPr/>
        </p:nvSpPr>
        <p:spPr>
          <a:xfrm>
            <a:off x="778825" y="2095051"/>
            <a:ext cx="3338100" cy="148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עכשיו לחצו על הכפתור הזה</a:t>
            </a:r>
            <a:endParaRPr>
              <a:solidFill>
                <a:schemeClr val="dk2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הכפתור הזה פותח את טרמינל התקשורת</a:t>
            </a:r>
            <a:endParaRPr>
              <a:solidFill>
                <a:schemeClr val="dk2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chemeClr val="dk2"/>
                </a:solidFill>
              </a:rPr>
              <a:t>מה כתוב בטרמינל?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תזכורת - כתיבה מהתוכנית למחשב</a:t>
            </a:r>
            <a:endParaRPr/>
          </a:p>
        </p:txBody>
      </p:sp>
      <p:sp>
        <p:nvSpPr>
          <p:cNvPr id="115" name="Google Shape;115;p19"/>
          <p:cNvSpPr txBox="1"/>
          <p:nvPr>
            <p:ph idx="1" type="body"/>
          </p:nvPr>
        </p:nvSpPr>
        <p:spPr>
          <a:xfrm>
            <a:off x="311700" y="1116200"/>
            <a:ext cx="8520600" cy="345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() {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(9600); // מגדיר את קצב התקשורת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4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println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400">
                <a:solidFill>
                  <a:srgbClr val="005C5F"/>
                </a:solidFill>
                <a:latin typeface="Arial"/>
                <a:ea typeface="Arial"/>
                <a:cs typeface="Arial"/>
                <a:sym typeface="Arial"/>
              </a:rPr>
              <a:t>"Hey! I am the Arduino"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); //  כותב למחש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ב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() {</a:t>
            </a: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char Serial.read();</a:t>
            </a:r>
            <a:endParaRPr/>
          </a:p>
        </p:txBody>
      </p:sp>
      <p:sp>
        <p:nvSpPr>
          <p:cNvPr id="121" name="Google Shape;121;p2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פקודה חדשה  ;()</a:t>
            </a:r>
            <a:r>
              <a:rPr lang="en"/>
              <a:t>Serial.read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הפקודה אומרת לתוכנית לקרוא אות אחת מהמחשב.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דוגמה:</a:t>
            </a:r>
            <a:r>
              <a:rPr lang="en"/>
              <a:t> </a:t>
            </a:r>
            <a:endParaRPr/>
          </a:p>
        </p:txBody>
      </p:sp>
      <p:sp>
        <p:nvSpPr>
          <p:cNvPr id="122" name="Google Shape;122;p20"/>
          <p:cNvSpPr txBox="1"/>
          <p:nvPr/>
        </p:nvSpPr>
        <p:spPr>
          <a:xfrm>
            <a:off x="763675" y="2193650"/>
            <a:ext cx="1886700" cy="280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rgbClr val="00979C"/>
                </a:solidFill>
              </a:rPr>
              <a:t>char</a:t>
            </a:r>
            <a:r>
              <a:rPr lang="en">
                <a:solidFill>
                  <a:schemeClr val="dk2"/>
                </a:solidFill>
              </a:rPr>
              <a:t> ch;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rgbClr val="00979C"/>
                </a:solidFill>
              </a:rPr>
              <a:t>void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rgbClr val="5E6D03"/>
                </a:solidFill>
              </a:rPr>
              <a:t>setup</a:t>
            </a:r>
            <a:r>
              <a:rPr lang="en">
                <a:solidFill>
                  <a:schemeClr val="dk2"/>
                </a:solidFill>
              </a:rPr>
              <a:t>() {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  </a:t>
            </a:r>
            <a:r>
              <a:rPr b="1" lang="en">
                <a:solidFill>
                  <a:srgbClr val="D35400"/>
                </a:solidFill>
              </a:rPr>
              <a:t>Serial</a:t>
            </a:r>
            <a:r>
              <a:rPr lang="en">
                <a:solidFill>
                  <a:srgbClr val="434F54"/>
                </a:solidFill>
              </a:rPr>
              <a:t>.</a:t>
            </a:r>
            <a:r>
              <a:rPr lang="en">
                <a:solidFill>
                  <a:srgbClr val="D35400"/>
                </a:solidFill>
              </a:rPr>
              <a:t>begin</a:t>
            </a:r>
            <a:r>
              <a:rPr lang="en">
                <a:solidFill>
                  <a:schemeClr val="dk2"/>
                </a:solidFill>
              </a:rPr>
              <a:t>(9600);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}</a:t>
            </a:r>
            <a:br>
              <a:rPr lang="en">
                <a:solidFill>
                  <a:schemeClr val="dk2"/>
                </a:solidFill>
              </a:rPr>
            </a:b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rgbClr val="00979C"/>
                </a:solidFill>
              </a:rPr>
              <a:t>void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rgbClr val="5E6D03"/>
                </a:solidFill>
              </a:rPr>
              <a:t>loop</a:t>
            </a:r>
            <a:r>
              <a:rPr lang="en">
                <a:solidFill>
                  <a:schemeClr val="dk2"/>
                </a:solidFill>
              </a:rPr>
              <a:t>() {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  ch </a:t>
            </a:r>
            <a:r>
              <a:rPr lang="en">
                <a:solidFill>
                  <a:srgbClr val="434F54"/>
                </a:solidFill>
              </a:rPr>
              <a:t>=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b="1" lang="en">
                <a:solidFill>
                  <a:srgbClr val="D35400"/>
                </a:solidFill>
              </a:rPr>
              <a:t>Serial</a:t>
            </a:r>
            <a:r>
              <a:rPr lang="en">
                <a:solidFill>
                  <a:srgbClr val="434F54"/>
                </a:solidFill>
              </a:rPr>
              <a:t>.</a:t>
            </a:r>
            <a:r>
              <a:rPr lang="en">
                <a:solidFill>
                  <a:srgbClr val="D35400"/>
                </a:solidFill>
              </a:rPr>
              <a:t>read</a:t>
            </a:r>
            <a:r>
              <a:rPr lang="en">
                <a:solidFill>
                  <a:schemeClr val="dk2"/>
                </a:solidFill>
              </a:rPr>
              <a:t>(); 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  </a:t>
            </a:r>
            <a:r>
              <a:rPr b="1" lang="en">
                <a:solidFill>
                  <a:srgbClr val="D35400"/>
                </a:solidFill>
              </a:rPr>
              <a:t>Serial</a:t>
            </a:r>
            <a:r>
              <a:rPr lang="en">
                <a:solidFill>
                  <a:srgbClr val="434F54"/>
                </a:solidFill>
              </a:rPr>
              <a:t>.</a:t>
            </a:r>
            <a:r>
              <a:rPr lang="en">
                <a:solidFill>
                  <a:srgbClr val="D35400"/>
                </a:solidFill>
              </a:rPr>
              <a:t>println</a:t>
            </a:r>
            <a:r>
              <a:rPr lang="en">
                <a:solidFill>
                  <a:schemeClr val="dk2"/>
                </a:solidFill>
              </a:rPr>
              <a:t>(ch);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  </a:t>
            </a:r>
            <a:r>
              <a:rPr lang="en">
                <a:solidFill>
                  <a:srgbClr val="D35400"/>
                </a:solidFill>
              </a:rPr>
              <a:t>delay</a:t>
            </a:r>
            <a:r>
              <a:rPr lang="en">
                <a:solidFill>
                  <a:schemeClr val="dk2"/>
                </a:solidFill>
              </a:rPr>
              <a:t>(1000);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}</a:t>
            </a:r>
            <a:br>
              <a:rPr lang="en">
                <a:solidFill>
                  <a:schemeClr val="dk2"/>
                </a:solidFill>
              </a:rPr>
            </a:br>
            <a:endParaRPr>
              <a:solidFill>
                <a:schemeClr val="dk2"/>
              </a:solidFill>
            </a:endParaRPr>
          </a:p>
        </p:txBody>
      </p:sp>
      <p:sp>
        <p:nvSpPr>
          <p:cNvPr id="123" name="Google Shape;123;p20"/>
          <p:cNvSpPr txBox="1"/>
          <p:nvPr/>
        </p:nvSpPr>
        <p:spPr>
          <a:xfrm>
            <a:off x="2590450" y="2193650"/>
            <a:ext cx="3167100" cy="237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 טיפוס מסוג אות (char)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 נקרא אות מהמחשב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 נכתוב אותה חזרה למחשב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// נחכה שניה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Serial.read() -  דוגמה המשך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 </a:t>
            </a:r>
            <a:endParaRPr/>
          </a:p>
        </p:txBody>
      </p:sp>
      <p:pic>
        <p:nvPicPr>
          <p:cNvPr id="130" name="Google Shape;13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75025" y="0"/>
            <a:ext cx="4851174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Serial.read() - </a:t>
            </a:r>
            <a:r>
              <a:rPr lang="en"/>
              <a:t> תרגילים</a:t>
            </a:r>
            <a:endParaRPr/>
          </a:p>
        </p:txBody>
      </p:sp>
      <p:sp>
        <p:nvSpPr>
          <p:cNvPr id="136" name="Google Shape;136;p22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1" algn="r"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כתבו תוכנית שכשתלחצו על a, הנורה תדלק וכשתלחצו על b הנורה תכבה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1" algn="r"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כתבו תוכנית שמדליקה נורה לפי המספר שהכנסתם למחשב: 1-אדום, 2-צהוב, 3-ירוק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1" algn="r">
              <a:spcBef>
                <a:spcPts val="0"/>
              </a:spcBef>
              <a:spcAft>
                <a:spcPts val="0"/>
              </a:spcAft>
              <a:buSzPts val="1400"/>
              <a:buFont typeface="Arial"/>
              <a:buAutoNum type="arabicPeriod"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כתבו תוכנית שכשתכניסו למחשב מספר, המנורה בקצב לפי המספר שתכניסו 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3"/>
          <p:cNvSpPr txBox="1"/>
          <p:nvPr>
            <p:ph type="title"/>
          </p:nvPr>
        </p:nvSpPr>
        <p:spPr>
          <a:xfrm>
            <a:off x="311700" y="445025"/>
            <a:ext cx="11784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</p:txBody>
      </p:sp>
      <p:sp>
        <p:nvSpPr>
          <p:cNvPr id="142" name="Google Shape;142;p23"/>
          <p:cNvSpPr txBox="1"/>
          <p:nvPr>
            <p:ph idx="1" type="body"/>
          </p:nvPr>
        </p:nvSpPr>
        <p:spPr>
          <a:xfrm>
            <a:off x="4906550" y="584100"/>
            <a:ext cx="4050600" cy="455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char get;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void setup()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{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pinMode(13, OUTPUT);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Serial.begin(9600);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}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void loop()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{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get = Serial.read();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if(get == 'a')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{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digitalWrite(13, HIGH);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}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else if(get == 'b')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{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digitalWrite(13, LOW);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  }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latin typeface="Arial"/>
                <a:ea typeface="Arial"/>
                <a:cs typeface="Arial"/>
                <a:sym typeface="Arial"/>
              </a:rPr>
              <a:t>}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297400"/>
            <a:ext cx="4601750" cy="27386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Serial.read() -  פתרונות</a:t>
            </a:r>
            <a:endParaRPr/>
          </a:p>
        </p:txBody>
      </p:sp>
      <p:sp>
        <p:nvSpPr>
          <p:cNvPr id="149" name="Google Shape;149;p2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24"/>
          <p:cNvSpPr txBox="1"/>
          <p:nvPr/>
        </p:nvSpPr>
        <p:spPr>
          <a:xfrm>
            <a:off x="5110525" y="46150"/>
            <a:ext cx="3758700" cy="509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979C"/>
                </a:solidFill>
              </a:rPr>
              <a:t>char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D35400"/>
                </a:solidFill>
              </a:rPr>
              <a:t>get</a:t>
            </a:r>
            <a:r>
              <a:rPr lang="en" sz="1200">
                <a:solidFill>
                  <a:schemeClr val="dk2"/>
                </a:solidFill>
              </a:rPr>
              <a:t>;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rgbClr val="00979C"/>
                </a:solidFill>
              </a:rPr>
              <a:t>int</a:t>
            </a:r>
            <a:r>
              <a:rPr lang="en" sz="1200">
                <a:solidFill>
                  <a:schemeClr val="dk2"/>
                </a:solidFill>
              </a:rPr>
              <a:t> RED </a:t>
            </a:r>
            <a:r>
              <a:rPr lang="en" sz="1200">
                <a:solidFill>
                  <a:srgbClr val="434F54"/>
                </a:solidFill>
              </a:rPr>
              <a:t>=</a:t>
            </a:r>
            <a:r>
              <a:rPr lang="en" sz="1200">
                <a:solidFill>
                  <a:schemeClr val="dk2"/>
                </a:solidFill>
              </a:rPr>
              <a:t> 13</a:t>
            </a:r>
            <a:r>
              <a:rPr lang="en" sz="1200">
                <a:solidFill>
                  <a:srgbClr val="434F54"/>
                </a:solidFill>
              </a:rPr>
              <a:t>,</a:t>
            </a:r>
            <a:r>
              <a:rPr lang="en" sz="1200">
                <a:solidFill>
                  <a:schemeClr val="dk2"/>
                </a:solidFill>
              </a:rPr>
              <a:t> YELLOW </a:t>
            </a:r>
            <a:r>
              <a:rPr lang="en" sz="1200">
                <a:solidFill>
                  <a:srgbClr val="434F54"/>
                </a:solidFill>
              </a:rPr>
              <a:t>=</a:t>
            </a:r>
            <a:r>
              <a:rPr lang="en" sz="1200">
                <a:solidFill>
                  <a:schemeClr val="dk2"/>
                </a:solidFill>
              </a:rPr>
              <a:t> 6</a:t>
            </a:r>
            <a:r>
              <a:rPr lang="en" sz="1200">
                <a:solidFill>
                  <a:srgbClr val="434F54"/>
                </a:solidFill>
              </a:rPr>
              <a:t>,</a:t>
            </a:r>
            <a:r>
              <a:rPr lang="en" sz="1200">
                <a:solidFill>
                  <a:schemeClr val="dk2"/>
                </a:solidFill>
              </a:rPr>
              <a:t> GREEN </a:t>
            </a:r>
            <a:r>
              <a:rPr lang="en" sz="1200">
                <a:solidFill>
                  <a:srgbClr val="434F54"/>
                </a:solidFill>
              </a:rPr>
              <a:t>=</a:t>
            </a:r>
            <a:r>
              <a:rPr lang="en" sz="1200">
                <a:solidFill>
                  <a:schemeClr val="dk2"/>
                </a:solidFill>
              </a:rPr>
              <a:t> 2;</a:t>
            </a:r>
            <a:br>
              <a:rPr lang="en" sz="1200">
                <a:solidFill>
                  <a:schemeClr val="dk2"/>
                </a:solidFill>
              </a:rPr>
            </a:b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rgbClr val="00979C"/>
                </a:solidFill>
              </a:rPr>
              <a:t>void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5E6D03"/>
                </a:solidFill>
              </a:rPr>
              <a:t>setup</a:t>
            </a:r>
            <a:r>
              <a:rPr lang="en" sz="1200">
                <a:solidFill>
                  <a:schemeClr val="dk2"/>
                </a:solidFill>
              </a:rPr>
              <a:t>()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{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</a:t>
            </a:r>
            <a:r>
              <a:rPr lang="en" sz="1200">
                <a:solidFill>
                  <a:srgbClr val="D35400"/>
                </a:solidFill>
              </a:rPr>
              <a:t>pinMode</a:t>
            </a:r>
            <a:r>
              <a:rPr lang="en" sz="1200">
                <a:solidFill>
                  <a:schemeClr val="dk2"/>
                </a:solidFill>
              </a:rPr>
              <a:t>(RED</a:t>
            </a:r>
            <a:r>
              <a:rPr lang="en" sz="1200">
                <a:solidFill>
                  <a:srgbClr val="434F54"/>
                </a:solidFill>
              </a:rPr>
              <a:t>,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00979C"/>
                </a:solidFill>
              </a:rPr>
              <a:t>OUTPUT</a:t>
            </a:r>
            <a:r>
              <a:rPr lang="en" sz="1200">
                <a:solidFill>
                  <a:schemeClr val="dk2"/>
                </a:solidFill>
              </a:rPr>
              <a:t>);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</a:t>
            </a:r>
            <a:r>
              <a:rPr lang="en" sz="1200">
                <a:solidFill>
                  <a:srgbClr val="D35400"/>
                </a:solidFill>
              </a:rPr>
              <a:t>pinMode</a:t>
            </a:r>
            <a:r>
              <a:rPr lang="en" sz="1200">
                <a:solidFill>
                  <a:schemeClr val="dk2"/>
                </a:solidFill>
              </a:rPr>
              <a:t>(YELLOW</a:t>
            </a:r>
            <a:r>
              <a:rPr lang="en" sz="1200">
                <a:solidFill>
                  <a:srgbClr val="434F54"/>
                </a:solidFill>
              </a:rPr>
              <a:t>,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00979C"/>
                </a:solidFill>
              </a:rPr>
              <a:t>OUTPUT</a:t>
            </a:r>
            <a:r>
              <a:rPr lang="en" sz="1200">
                <a:solidFill>
                  <a:schemeClr val="dk2"/>
                </a:solidFill>
              </a:rPr>
              <a:t>);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</a:t>
            </a:r>
            <a:r>
              <a:rPr lang="en" sz="1200">
                <a:solidFill>
                  <a:srgbClr val="D35400"/>
                </a:solidFill>
              </a:rPr>
              <a:t>pinMode</a:t>
            </a:r>
            <a:r>
              <a:rPr lang="en" sz="1200">
                <a:solidFill>
                  <a:schemeClr val="dk2"/>
                </a:solidFill>
              </a:rPr>
              <a:t>(GREEN</a:t>
            </a:r>
            <a:r>
              <a:rPr lang="en" sz="1200">
                <a:solidFill>
                  <a:srgbClr val="434F54"/>
                </a:solidFill>
              </a:rPr>
              <a:t>,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00979C"/>
                </a:solidFill>
              </a:rPr>
              <a:t>OUTPUT</a:t>
            </a:r>
            <a:r>
              <a:rPr lang="en" sz="1200">
                <a:solidFill>
                  <a:schemeClr val="dk2"/>
                </a:solidFill>
              </a:rPr>
              <a:t>);</a:t>
            </a:r>
            <a:br>
              <a:rPr lang="en" sz="1200">
                <a:solidFill>
                  <a:schemeClr val="dk2"/>
                </a:solidFill>
              </a:rPr>
            </a:b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</a:t>
            </a:r>
            <a:r>
              <a:rPr b="1" lang="en" sz="1200">
                <a:solidFill>
                  <a:srgbClr val="D35400"/>
                </a:solidFill>
              </a:rPr>
              <a:t>Serial</a:t>
            </a:r>
            <a:r>
              <a:rPr lang="en" sz="1200">
                <a:solidFill>
                  <a:srgbClr val="434F54"/>
                </a:solidFill>
              </a:rPr>
              <a:t>.</a:t>
            </a:r>
            <a:r>
              <a:rPr lang="en" sz="1200">
                <a:solidFill>
                  <a:srgbClr val="D35400"/>
                </a:solidFill>
              </a:rPr>
              <a:t>begin</a:t>
            </a:r>
            <a:r>
              <a:rPr lang="en" sz="1200">
                <a:solidFill>
                  <a:schemeClr val="dk2"/>
                </a:solidFill>
              </a:rPr>
              <a:t>(9600);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}</a:t>
            </a:r>
            <a:br>
              <a:rPr lang="en" sz="1200">
                <a:solidFill>
                  <a:schemeClr val="dk2"/>
                </a:solidFill>
              </a:rPr>
            </a:b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rgbClr val="00979C"/>
                </a:solidFill>
              </a:rPr>
              <a:t>void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5E6D03"/>
                </a:solidFill>
              </a:rPr>
              <a:t>loop</a:t>
            </a:r>
            <a:r>
              <a:rPr lang="en" sz="1200">
                <a:solidFill>
                  <a:schemeClr val="dk2"/>
                </a:solidFill>
              </a:rPr>
              <a:t>()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{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</a:t>
            </a:r>
            <a:r>
              <a:rPr lang="en" sz="1200">
                <a:solidFill>
                  <a:srgbClr val="D35400"/>
                </a:solidFill>
              </a:rPr>
              <a:t>get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434F54"/>
                </a:solidFill>
              </a:rPr>
              <a:t>=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b="1" lang="en" sz="1200">
                <a:solidFill>
                  <a:srgbClr val="D35400"/>
                </a:solidFill>
              </a:rPr>
              <a:t>Serial</a:t>
            </a:r>
            <a:r>
              <a:rPr lang="en" sz="1200">
                <a:solidFill>
                  <a:srgbClr val="434F54"/>
                </a:solidFill>
              </a:rPr>
              <a:t>.</a:t>
            </a:r>
            <a:r>
              <a:rPr lang="en" sz="1200">
                <a:solidFill>
                  <a:srgbClr val="D35400"/>
                </a:solidFill>
              </a:rPr>
              <a:t>read</a:t>
            </a:r>
            <a:r>
              <a:rPr lang="en" sz="1200">
                <a:solidFill>
                  <a:schemeClr val="dk2"/>
                </a:solidFill>
              </a:rPr>
              <a:t>();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</a:t>
            </a:r>
            <a:r>
              <a:rPr lang="en" sz="1200">
                <a:solidFill>
                  <a:srgbClr val="D35400"/>
                </a:solidFill>
              </a:rPr>
              <a:t>digitalWrite</a:t>
            </a:r>
            <a:r>
              <a:rPr lang="en" sz="1200">
                <a:solidFill>
                  <a:schemeClr val="dk2"/>
                </a:solidFill>
              </a:rPr>
              <a:t>(RED</a:t>
            </a:r>
            <a:r>
              <a:rPr lang="en" sz="1200">
                <a:solidFill>
                  <a:srgbClr val="434F54"/>
                </a:solidFill>
              </a:rPr>
              <a:t>,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D35400"/>
                </a:solidFill>
              </a:rPr>
              <a:t>get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434F54"/>
                </a:solidFill>
              </a:rPr>
              <a:t>==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00979C"/>
                </a:solidFill>
              </a:rPr>
              <a:t>'1'</a:t>
            </a:r>
            <a:r>
              <a:rPr lang="en" sz="1200">
                <a:solidFill>
                  <a:schemeClr val="dk2"/>
                </a:solidFill>
              </a:rPr>
              <a:t>);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</a:t>
            </a:r>
            <a:r>
              <a:rPr lang="en" sz="1200">
                <a:solidFill>
                  <a:srgbClr val="D35400"/>
                </a:solidFill>
              </a:rPr>
              <a:t>digitalWrite</a:t>
            </a:r>
            <a:r>
              <a:rPr lang="en" sz="1200">
                <a:solidFill>
                  <a:schemeClr val="dk2"/>
                </a:solidFill>
              </a:rPr>
              <a:t>(YELLOW</a:t>
            </a:r>
            <a:r>
              <a:rPr lang="en" sz="1200">
                <a:solidFill>
                  <a:srgbClr val="434F54"/>
                </a:solidFill>
              </a:rPr>
              <a:t>,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D35400"/>
                </a:solidFill>
              </a:rPr>
              <a:t>get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434F54"/>
                </a:solidFill>
              </a:rPr>
              <a:t>==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00979C"/>
                </a:solidFill>
              </a:rPr>
              <a:t>'2'</a:t>
            </a:r>
            <a:r>
              <a:rPr lang="en" sz="1200">
                <a:solidFill>
                  <a:schemeClr val="dk2"/>
                </a:solidFill>
              </a:rPr>
              <a:t>);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</a:t>
            </a:r>
            <a:r>
              <a:rPr lang="en" sz="1200">
                <a:solidFill>
                  <a:srgbClr val="D35400"/>
                </a:solidFill>
              </a:rPr>
              <a:t>digitalWrite</a:t>
            </a:r>
            <a:r>
              <a:rPr lang="en" sz="1200">
                <a:solidFill>
                  <a:schemeClr val="dk2"/>
                </a:solidFill>
              </a:rPr>
              <a:t>(GREEN</a:t>
            </a:r>
            <a:r>
              <a:rPr lang="en" sz="1200">
                <a:solidFill>
                  <a:srgbClr val="434F54"/>
                </a:solidFill>
              </a:rPr>
              <a:t>,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D35400"/>
                </a:solidFill>
              </a:rPr>
              <a:t>get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434F54"/>
                </a:solidFill>
              </a:rPr>
              <a:t>==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00979C"/>
                </a:solidFill>
              </a:rPr>
              <a:t>'3'</a:t>
            </a:r>
            <a:r>
              <a:rPr lang="en" sz="1200">
                <a:solidFill>
                  <a:schemeClr val="dk2"/>
                </a:solidFill>
              </a:rPr>
              <a:t>);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</a:t>
            </a:r>
            <a:r>
              <a:rPr lang="en" sz="1200">
                <a:solidFill>
                  <a:srgbClr val="D35400"/>
                </a:solidFill>
              </a:rPr>
              <a:t>delay</a:t>
            </a:r>
            <a:r>
              <a:rPr lang="en" sz="1200">
                <a:solidFill>
                  <a:schemeClr val="dk2"/>
                </a:solidFill>
              </a:rPr>
              <a:t>(1000);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}</a:t>
            </a:r>
            <a:br>
              <a:rPr lang="en" sz="1200">
                <a:solidFill>
                  <a:schemeClr val="dk2"/>
                </a:solidFill>
              </a:rPr>
            </a:br>
            <a:br>
              <a:rPr lang="en" sz="1200">
                <a:solidFill>
                  <a:schemeClr val="dk2"/>
                </a:solidFill>
              </a:rPr>
            </a:b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979C"/>
              </a:solidFill>
            </a:endParaRPr>
          </a:p>
        </p:txBody>
      </p:sp>
      <p:pic>
        <p:nvPicPr>
          <p:cNvPr id="151" name="Google Shape;15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6599" y="1376749"/>
            <a:ext cx="4903925" cy="4064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157" name="Google Shape;157;p2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אחרי שהגדרנו את הפורט כINPUT אנחנו יכולים לקרוא ממנו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25"/>
          <p:cNvSpPr txBox="1"/>
          <p:nvPr/>
        </p:nvSpPr>
        <p:spPr>
          <a:xfrm>
            <a:off x="202200" y="1647125"/>
            <a:ext cx="4369800" cy="32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rgbClr val="00979C"/>
                </a:solidFill>
              </a:rPr>
              <a:t>int</a:t>
            </a:r>
            <a:r>
              <a:rPr lang="en">
                <a:solidFill>
                  <a:schemeClr val="dk2"/>
                </a:solidFill>
              </a:rPr>
              <a:t> portIn </a:t>
            </a:r>
            <a:r>
              <a:rPr lang="en">
                <a:solidFill>
                  <a:srgbClr val="434F54"/>
                </a:solidFill>
              </a:rPr>
              <a:t>=</a:t>
            </a:r>
            <a:r>
              <a:rPr lang="en">
                <a:solidFill>
                  <a:schemeClr val="dk2"/>
                </a:solidFill>
              </a:rPr>
              <a:t> 12;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979C"/>
                </a:solidFill>
              </a:rPr>
              <a:t>void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rgbClr val="5E6D03"/>
                </a:solidFill>
              </a:rPr>
              <a:t>setup</a:t>
            </a:r>
            <a:r>
              <a:rPr lang="en">
                <a:solidFill>
                  <a:schemeClr val="dk2"/>
                </a:solidFill>
              </a:rPr>
              <a:t>()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{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  </a:t>
            </a:r>
            <a:r>
              <a:rPr lang="en">
                <a:solidFill>
                  <a:srgbClr val="D35400"/>
                </a:solidFill>
              </a:rPr>
              <a:t>pinMode</a:t>
            </a:r>
            <a:r>
              <a:rPr lang="en">
                <a:solidFill>
                  <a:schemeClr val="dk2"/>
                </a:solidFill>
              </a:rPr>
              <a:t>(portIn</a:t>
            </a:r>
            <a:r>
              <a:rPr lang="en">
                <a:solidFill>
                  <a:srgbClr val="434F54"/>
                </a:solidFill>
              </a:rPr>
              <a:t>,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rgbClr val="00979C"/>
                </a:solidFill>
              </a:rPr>
              <a:t>INPUT</a:t>
            </a:r>
            <a:r>
              <a:rPr lang="en">
                <a:solidFill>
                  <a:schemeClr val="dk2"/>
                </a:solidFill>
              </a:rPr>
              <a:t>);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}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979C"/>
                </a:solidFill>
              </a:rPr>
              <a:t>void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rgbClr val="5E6D03"/>
                </a:solidFill>
              </a:rPr>
              <a:t>loop</a:t>
            </a:r>
            <a:r>
              <a:rPr lang="en">
                <a:solidFill>
                  <a:schemeClr val="dk2"/>
                </a:solidFill>
              </a:rPr>
              <a:t>()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{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979C"/>
                </a:solidFill>
              </a:rPr>
              <a:t>int</a:t>
            </a:r>
            <a:r>
              <a:rPr lang="en">
                <a:solidFill>
                  <a:schemeClr val="dk2"/>
                </a:solidFill>
              </a:rPr>
              <a:t> val;</a:t>
            </a:r>
            <a:br>
              <a:rPr lang="en">
                <a:solidFill>
                  <a:schemeClr val="dk2"/>
                </a:solidFill>
              </a:rPr>
            </a:br>
            <a:r>
              <a:rPr lang="en">
                <a:solidFill>
                  <a:schemeClr val="dk2"/>
                </a:solidFill>
              </a:rPr>
              <a:t>  val </a:t>
            </a:r>
            <a:r>
              <a:rPr lang="en">
                <a:solidFill>
                  <a:srgbClr val="434F54"/>
                </a:solidFill>
              </a:rPr>
              <a:t>=</a:t>
            </a:r>
            <a:r>
              <a:rPr lang="en">
                <a:solidFill>
                  <a:schemeClr val="dk2"/>
                </a:solidFill>
              </a:rPr>
              <a:t> </a:t>
            </a:r>
            <a:r>
              <a:rPr lang="en">
                <a:solidFill>
                  <a:srgbClr val="D35400"/>
                </a:solidFill>
              </a:rPr>
              <a:t>digitalRead</a:t>
            </a:r>
            <a:r>
              <a:rPr lang="en">
                <a:solidFill>
                  <a:schemeClr val="dk2"/>
                </a:solidFill>
              </a:rPr>
              <a:t>(portIn);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}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D35400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 txBox="1"/>
          <p:nvPr>
            <p:ph idx="1" type="body"/>
          </p:nvPr>
        </p:nvSpPr>
        <p:spPr>
          <a:xfrm>
            <a:off x="5393450" y="-115350"/>
            <a:ext cx="3429300" cy="51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979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char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1000;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LED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13;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(LED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(9600);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{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();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1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'0'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10;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1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'1'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100;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1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'2'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200;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1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'3'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300;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1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if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read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'4'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=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400;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(LED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(LED</a:t>
            </a:r>
            <a:r>
              <a:rPr lang="en" sz="1100">
                <a:solidFill>
                  <a:srgbClr val="434F54"/>
                </a:solidFill>
                <a:latin typeface="Arial"/>
                <a:ea typeface="Arial"/>
                <a:cs typeface="Arial"/>
                <a:sym typeface="Arial"/>
              </a:rPr>
              <a:t>,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1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1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time</a:t>
            </a:r>
            <a:r>
              <a:rPr lang="en" sz="1100">
                <a:latin typeface="Arial"/>
                <a:ea typeface="Arial"/>
                <a:cs typeface="Arial"/>
                <a:sym typeface="Arial"/>
              </a:rPr>
              <a:t>);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r>
              <a:rPr lang="en" sz="1100">
                <a:latin typeface="Arial"/>
                <a:ea typeface="Arial"/>
                <a:cs typeface="Arial"/>
                <a:sym typeface="Arial"/>
              </a:rPr>
              <a:t>}</a:t>
            </a:r>
            <a:br>
              <a:rPr lang="en" sz="1100">
                <a:latin typeface="Arial"/>
                <a:ea typeface="Arial"/>
                <a:cs typeface="Arial"/>
                <a:sym typeface="Arial"/>
              </a:rPr>
            </a:b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4" name="Google Shape;16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12875"/>
            <a:ext cx="5088649" cy="30283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</a:t>
            </a:r>
            <a:endParaRPr/>
          </a:p>
        </p:txBody>
      </p:sp>
      <p:sp>
        <p:nvSpPr>
          <p:cNvPr id="170" name="Google Shape;170;p27"/>
          <p:cNvSpPr txBox="1"/>
          <p:nvPr>
            <p:ph idx="1" type="body"/>
          </p:nvPr>
        </p:nvSpPr>
        <p:spPr>
          <a:xfrm>
            <a:off x="311700" y="1234075"/>
            <a:ext cx="8520600" cy="394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כדי לקרוא מפורט אנחנו צריכים לעשות שני דברים: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ב - </a:t>
            </a:r>
            <a:r>
              <a:rPr b="1" lang="en"/>
              <a:t>setup בלבד</a:t>
            </a:r>
            <a:r>
              <a:rPr lang="en"/>
              <a:t>, להגדיר את הפורט בתור input: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מגדיר: האם הפורט הוא INPUT או OUTPUT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portIn אומר איזה פורט מתוך 13 הפורטים אנחנו מגדירים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דרך נוספת להגדיר את הפורט: </a:t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7"/>
          <p:cNvSpPr txBox="1"/>
          <p:nvPr/>
        </p:nvSpPr>
        <p:spPr>
          <a:xfrm>
            <a:off x="202150" y="1879200"/>
            <a:ext cx="4312500" cy="13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979C"/>
                </a:solidFill>
              </a:rPr>
              <a:t>int</a:t>
            </a:r>
            <a:r>
              <a:rPr lang="en" sz="1200">
                <a:solidFill>
                  <a:schemeClr val="dk2"/>
                </a:solidFill>
              </a:rPr>
              <a:t> portIn </a:t>
            </a:r>
            <a:r>
              <a:rPr lang="en" sz="1200">
                <a:solidFill>
                  <a:srgbClr val="434F54"/>
                </a:solidFill>
              </a:rPr>
              <a:t>=</a:t>
            </a:r>
            <a:r>
              <a:rPr lang="en" sz="1200">
                <a:solidFill>
                  <a:schemeClr val="dk2"/>
                </a:solidFill>
              </a:rPr>
              <a:t> 12;</a:t>
            </a:r>
            <a:endParaRPr sz="12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979C"/>
                </a:solidFill>
              </a:rPr>
              <a:t>void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5E6D03"/>
                </a:solidFill>
              </a:rPr>
              <a:t>setup</a:t>
            </a:r>
            <a:r>
              <a:rPr lang="en" sz="1200">
                <a:solidFill>
                  <a:schemeClr val="dk2"/>
                </a:solidFill>
              </a:rPr>
              <a:t>()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{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</a:t>
            </a:r>
            <a:r>
              <a:rPr lang="en" sz="1200">
                <a:solidFill>
                  <a:srgbClr val="D35400"/>
                </a:solidFill>
              </a:rPr>
              <a:t>pinMode</a:t>
            </a:r>
            <a:r>
              <a:rPr lang="en" sz="1200">
                <a:solidFill>
                  <a:schemeClr val="dk2"/>
                </a:solidFill>
              </a:rPr>
              <a:t>(portIn</a:t>
            </a:r>
            <a:r>
              <a:rPr lang="en" sz="1200">
                <a:solidFill>
                  <a:srgbClr val="434F54"/>
                </a:solidFill>
              </a:rPr>
              <a:t>,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00979C"/>
                </a:solidFill>
              </a:rPr>
              <a:t>INPUT</a:t>
            </a:r>
            <a:r>
              <a:rPr lang="en" sz="1200">
                <a:solidFill>
                  <a:schemeClr val="dk2"/>
                </a:solidFill>
              </a:rPr>
              <a:t>);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}</a:t>
            </a:r>
            <a:endParaRPr/>
          </a:p>
        </p:txBody>
      </p:sp>
      <p:sp>
        <p:nvSpPr>
          <p:cNvPr id="172" name="Google Shape;172;p27"/>
          <p:cNvSpPr txBox="1"/>
          <p:nvPr/>
        </p:nvSpPr>
        <p:spPr>
          <a:xfrm>
            <a:off x="259500" y="4087875"/>
            <a:ext cx="43125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0979C"/>
                </a:solidFill>
              </a:rPr>
              <a:t>void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5E6D03"/>
                </a:solidFill>
              </a:rPr>
              <a:t>setup</a:t>
            </a:r>
            <a:r>
              <a:rPr lang="en" sz="1200">
                <a:solidFill>
                  <a:schemeClr val="dk2"/>
                </a:solidFill>
              </a:rPr>
              <a:t>()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{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  </a:t>
            </a:r>
            <a:r>
              <a:rPr lang="en" sz="1200">
                <a:solidFill>
                  <a:srgbClr val="D35400"/>
                </a:solidFill>
              </a:rPr>
              <a:t>pinMode</a:t>
            </a:r>
            <a:r>
              <a:rPr lang="en" sz="1200">
                <a:solidFill>
                  <a:schemeClr val="dk2"/>
                </a:solidFill>
              </a:rPr>
              <a:t>(12</a:t>
            </a:r>
            <a:r>
              <a:rPr lang="en" sz="1200">
                <a:solidFill>
                  <a:srgbClr val="434F54"/>
                </a:solidFill>
              </a:rPr>
              <a:t>,</a:t>
            </a:r>
            <a:r>
              <a:rPr lang="en" sz="1200">
                <a:solidFill>
                  <a:schemeClr val="dk2"/>
                </a:solidFill>
              </a:rPr>
              <a:t> </a:t>
            </a:r>
            <a:r>
              <a:rPr lang="en" sz="1200">
                <a:solidFill>
                  <a:srgbClr val="00979C"/>
                </a:solidFill>
              </a:rPr>
              <a:t>INPUT</a:t>
            </a:r>
            <a:r>
              <a:rPr lang="en" sz="1200">
                <a:solidFill>
                  <a:schemeClr val="dk2"/>
                </a:solidFill>
              </a:rPr>
              <a:t>);</a:t>
            </a:r>
            <a:br>
              <a:rPr lang="en" sz="1200">
                <a:solidFill>
                  <a:schemeClr val="dk2"/>
                </a:solidFill>
              </a:rPr>
            </a:br>
            <a:r>
              <a:rPr lang="en" sz="1200">
                <a:solidFill>
                  <a:schemeClr val="dk2"/>
                </a:solidFill>
              </a:rPr>
              <a:t>}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- חיבורים</a:t>
            </a:r>
            <a:endParaRPr/>
          </a:p>
        </p:txBody>
      </p:sp>
      <p:sp>
        <p:nvSpPr>
          <p:cNvPr id="178" name="Google Shape;178;p28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											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br>
              <a:rPr lang="en" sz="1400">
                <a:latin typeface="Arial"/>
                <a:ea typeface="Arial"/>
                <a:cs typeface="Arial"/>
                <a:sym typeface="Arial"/>
              </a:rPr>
            </a:b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1" algn="r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79" name="Google Shape;179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1175" y="1137300"/>
            <a:ext cx="7696245" cy="39572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28"/>
          <p:cNvSpPr txBox="1"/>
          <p:nvPr/>
        </p:nvSpPr>
        <p:spPr>
          <a:xfrm>
            <a:off x="4519800" y="445025"/>
            <a:ext cx="4312500" cy="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חברו את המעגל הבא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Input - קוד</a:t>
            </a:r>
            <a:endParaRPr/>
          </a:p>
        </p:txBody>
      </p:sp>
      <p:sp>
        <p:nvSpPr>
          <p:cNvPr id="186" name="Google Shape;186;p29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/>
              <a:t> </a:t>
            </a:r>
            <a:endParaRPr sz="1200"/>
          </a:p>
        </p:txBody>
      </p:sp>
      <p:sp>
        <p:nvSpPr>
          <p:cNvPr id="187" name="Google Shape;187;p29"/>
          <p:cNvSpPr txBox="1"/>
          <p:nvPr/>
        </p:nvSpPr>
        <p:spPr>
          <a:xfrm>
            <a:off x="6462875" y="1813350"/>
            <a:ext cx="23043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29"/>
          <p:cNvSpPr txBox="1"/>
          <p:nvPr/>
        </p:nvSpPr>
        <p:spPr>
          <a:xfrm>
            <a:off x="311700" y="1055175"/>
            <a:ext cx="4337700" cy="387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979C"/>
                </a:solidFill>
              </a:rPr>
              <a:t>int</a:t>
            </a:r>
            <a:r>
              <a:rPr lang="en" sz="1000">
                <a:solidFill>
                  <a:schemeClr val="dk2"/>
                </a:solidFill>
              </a:rPr>
              <a:t> portIn </a:t>
            </a:r>
            <a:r>
              <a:rPr lang="en" sz="1000">
                <a:solidFill>
                  <a:srgbClr val="434F54"/>
                </a:solidFill>
              </a:rPr>
              <a:t>=</a:t>
            </a:r>
            <a:r>
              <a:rPr lang="en" sz="1000">
                <a:solidFill>
                  <a:schemeClr val="dk2"/>
                </a:solidFill>
              </a:rPr>
              <a:t> 12;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rgbClr val="00979C"/>
                </a:solidFill>
              </a:rPr>
              <a:t>int</a:t>
            </a:r>
            <a:r>
              <a:rPr lang="en" sz="1000">
                <a:solidFill>
                  <a:schemeClr val="dk2"/>
                </a:solidFill>
              </a:rPr>
              <a:t> portOut </a:t>
            </a:r>
            <a:r>
              <a:rPr lang="en" sz="1000">
                <a:solidFill>
                  <a:srgbClr val="434F54"/>
                </a:solidFill>
              </a:rPr>
              <a:t>=</a:t>
            </a:r>
            <a:r>
              <a:rPr lang="en" sz="1000">
                <a:solidFill>
                  <a:schemeClr val="dk2"/>
                </a:solidFill>
              </a:rPr>
              <a:t> 13;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rgbClr val="00979C"/>
                </a:solidFill>
              </a:rPr>
              <a:t>void</a:t>
            </a:r>
            <a:r>
              <a:rPr lang="en" sz="1000">
                <a:solidFill>
                  <a:schemeClr val="dk2"/>
                </a:solidFill>
              </a:rPr>
              <a:t> </a:t>
            </a:r>
            <a:r>
              <a:rPr lang="en" sz="1000">
                <a:solidFill>
                  <a:srgbClr val="5E6D03"/>
                </a:solidFill>
              </a:rPr>
              <a:t>setup</a:t>
            </a:r>
            <a:r>
              <a:rPr lang="en" sz="1000">
                <a:solidFill>
                  <a:schemeClr val="dk2"/>
                </a:solidFill>
              </a:rPr>
              <a:t>()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{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</a:t>
            </a:r>
            <a:r>
              <a:rPr lang="en" sz="1000">
                <a:solidFill>
                  <a:srgbClr val="D35400"/>
                </a:solidFill>
              </a:rPr>
              <a:t>pinMode</a:t>
            </a:r>
            <a:r>
              <a:rPr lang="en" sz="1000">
                <a:solidFill>
                  <a:schemeClr val="dk2"/>
                </a:solidFill>
              </a:rPr>
              <a:t>(portOut</a:t>
            </a:r>
            <a:r>
              <a:rPr lang="en" sz="1000">
                <a:solidFill>
                  <a:srgbClr val="434F54"/>
                </a:solidFill>
              </a:rPr>
              <a:t>,</a:t>
            </a:r>
            <a:r>
              <a:rPr lang="en" sz="1000">
                <a:solidFill>
                  <a:schemeClr val="dk2"/>
                </a:solidFill>
              </a:rPr>
              <a:t> </a:t>
            </a:r>
            <a:r>
              <a:rPr lang="en" sz="1000">
                <a:solidFill>
                  <a:srgbClr val="00979C"/>
                </a:solidFill>
              </a:rPr>
              <a:t>OUTPUT</a:t>
            </a:r>
            <a:r>
              <a:rPr lang="en" sz="1000">
                <a:solidFill>
                  <a:schemeClr val="dk2"/>
                </a:solidFill>
              </a:rPr>
              <a:t>);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</a:t>
            </a:r>
            <a:r>
              <a:rPr lang="en" sz="1000">
                <a:solidFill>
                  <a:srgbClr val="D35400"/>
                </a:solidFill>
              </a:rPr>
              <a:t>pinMode</a:t>
            </a:r>
            <a:r>
              <a:rPr lang="en" sz="1000">
                <a:solidFill>
                  <a:schemeClr val="dk2"/>
                </a:solidFill>
              </a:rPr>
              <a:t>(portIn</a:t>
            </a:r>
            <a:r>
              <a:rPr lang="en" sz="1000">
                <a:solidFill>
                  <a:srgbClr val="434F54"/>
                </a:solidFill>
              </a:rPr>
              <a:t>,</a:t>
            </a:r>
            <a:r>
              <a:rPr lang="en" sz="1000">
                <a:solidFill>
                  <a:schemeClr val="dk2"/>
                </a:solidFill>
              </a:rPr>
              <a:t> </a:t>
            </a:r>
            <a:r>
              <a:rPr lang="en" sz="1000">
                <a:solidFill>
                  <a:srgbClr val="00979C"/>
                </a:solidFill>
              </a:rPr>
              <a:t>INPUT</a:t>
            </a:r>
            <a:r>
              <a:rPr lang="en" sz="1000">
                <a:solidFill>
                  <a:schemeClr val="dk2"/>
                </a:solidFill>
              </a:rPr>
              <a:t>);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}</a:t>
            </a:r>
            <a:br>
              <a:rPr lang="en" sz="1000">
                <a:solidFill>
                  <a:schemeClr val="dk2"/>
                </a:solidFill>
              </a:rPr>
            </a:b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rgbClr val="00979C"/>
                </a:solidFill>
              </a:rPr>
              <a:t>void</a:t>
            </a:r>
            <a:r>
              <a:rPr lang="en" sz="1000">
                <a:solidFill>
                  <a:schemeClr val="dk2"/>
                </a:solidFill>
              </a:rPr>
              <a:t> </a:t>
            </a:r>
            <a:r>
              <a:rPr lang="en" sz="1000">
                <a:solidFill>
                  <a:srgbClr val="5E6D03"/>
                </a:solidFill>
              </a:rPr>
              <a:t>loop</a:t>
            </a:r>
            <a:r>
              <a:rPr lang="en" sz="1000">
                <a:solidFill>
                  <a:schemeClr val="dk2"/>
                </a:solidFill>
              </a:rPr>
              <a:t>()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{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</a:t>
            </a:r>
            <a:r>
              <a:rPr lang="en" sz="1000">
                <a:solidFill>
                  <a:srgbClr val="D35400"/>
                </a:solidFill>
              </a:rPr>
              <a:t>digitalWrite</a:t>
            </a:r>
            <a:r>
              <a:rPr lang="en" sz="1000">
                <a:solidFill>
                  <a:schemeClr val="dk2"/>
                </a:solidFill>
              </a:rPr>
              <a:t>(portOut</a:t>
            </a:r>
            <a:r>
              <a:rPr lang="en" sz="1000">
                <a:solidFill>
                  <a:srgbClr val="434F54"/>
                </a:solidFill>
              </a:rPr>
              <a:t>,</a:t>
            </a:r>
            <a:r>
              <a:rPr lang="en" sz="1000">
                <a:solidFill>
                  <a:schemeClr val="dk2"/>
                </a:solidFill>
              </a:rPr>
              <a:t> </a:t>
            </a:r>
            <a:r>
              <a:rPr lang="en" sz="1000">
                <a:solidFill>
                  <a:srgbClr val="00979C"/>
                </a:solidFill>
              </a:rPr>
              <a:t>LOW</a:t>
            </a:r>
            <a:r>
              <a:rPr lang="en" sz="1000">
                <a:solidFill>
                  <a:schemeClr val="dk2"/>
                </a:solidFill>
              </a:rPr>
              <a:t>);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</a:t>
            </a:r>
            <a:r>
              <a:rPr lang="en" sz="1000">
                <a:solidFill>
                  <a:srgbClr val="00979C"/>
                </a:solidFill>
              </a:rPr>
              <a:t>int</a:t>
            </a:r>
            <a:r>
              <a:rPr lang="en" sz="1000">
                <a:solidFill>
                  <a:schemeClr val="dk2"/>
                </a:solidFill>
              </a:rPr>
              <a:t> val;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val </a:t>
            </a:r>
            <a:r>
              <a:rPr lang="en" sz="1000">
                <a:solidFill>
                  <a:srgbClr val="434F54"/>
                </a:solidFill>
              </a:rPr>
              <a:t>=</a:t>
            </a:r>
            <a:r>
              <a:rPr lang="en" sz="1000">
                <a:solidFill>
                  <a:schemeClr val="dk2"/>
                </a:solidFill>
              </a:rPr>
              <a:t> </a:t>
            </a:r>
            <a:r>
              <a:rPr lang="en" sz="1000">
                <a:solidFill>
                  <a:srgbClr val="D35400"/>
                </a:solidFill>
              </a:rPr>
              <a:t>digitalRead</a:t>
            </a:r>
            <a:r>
              <a:rPr lang="en" sz="1000">
                <a:solidFill>
                  <a:schemeClr val="dk2"/>
                </a:solidFill>
              </a:rPr>
              <a:t>(portIn);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</a:t>
            </a:r>
            <a:r>
              <a:rPr lang="en" sz="1000">
                <a:solidFill>
                  <a:srgbClr val="5E6D03"/>
                </a:solidFill>
              </a:rPr>
              <a:t>if</a:t>
            </a:r>
            <a:r>
              <a:rPr lang="en" sz="1000">
                <a:solidFill>
                  <a:schemeClr val="dk2"/>
                </a:solidFill>
              </a:rPr>
              <a:t> (val)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{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  </a:t>
            </a:r>
            <a:r>
              <a:rPr lang="en" sz="1000">
                <a:solidFill>
                  <a:srgbClr val="D35400"/>
                </a:solidFill>
              </a:rPr>
              <a:t>digitalWrite</a:t>
            </a:r>
            <a:r>
              <a:rPr lang="en" sz="1000">
                <a:solidFill>
                  <a:schemeClr val="dk2"/>
                </a:solidFill>
              </a:rPr>
              <a:t>(portOut</a:t>
            </a:r>
            <a:r>
              <a:rPr lang="en" sz="1000">
                <a:solidFill>
                  <a:srgbClr val="434F54"/>
                </a:solidFill>
              </a:rPr>
              <a:t>,</a:t>
            </a:r>
            <a:r>
              <a:rPr lang="en" sz="1000">
                <a:solidFill>
                  <a:schemeClr val="dk2"/>
                </a:solidFill>
              </a:rPr>
              <a:t> </a:t>
            </a:r>
            <a:r>
              <a:rPr lang="en" sz="1000">
                <a:solidFill>
                  <a:srgbClr val="00979C"/>
                </a:solidFill>
              </a:rPr>
              <a:t>HIGH</a:t>
            </a:r>
            <a:r>
              <a:rPr lang="en" sz="1000">
                <a:solidFill>
                  <a:schemeClr val="dk2"/>
                </a:solidFill>
              </a:rPr>
              <a:t>);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}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</a:t>
            </a:r>
            <a:r>
              <a:rPr lang="en" sz="1000">
                <a:solidFill>
                  <a:srgbClr val="5E6D03"/>
                </a:solidFill>
              </a:rPr>
              <a:t>else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{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  </a:t>
            </a:r>
            <a:r>
              <a:rPr lang="en" sz="1000">
                <a:solidFill>
                  <a:srgbClr val="D35400"/>
                </a:solidFill>
              </a:rPr>
              <a:t>digitalWrite</a:t>
            </a:r>
            <a:r>
              <a:rPr lang="en" sz="1000">
                <a:solidFill>
                  <a:schemeClr val="dk2"/>
                </a:solidFill>
              </a:rPr>
              <a:t>(portOut</a:t>
            </a:r>
            <a:r>
              <a:rPr lang="en" sz="1000">
                <a:solidFill>
                  <a:srgbClr val="434F54"/>
                </a:solidFill>
              </a:rPr>
              <a:t>,</a:t>
            </a:r>
            <a:r>
              <a:rPr lang="en" sz="1000">
                <a:solidFill>
                  <a:schemeClr val="dk2"/>
                </a:solidFill>
              </a:rPr>
              <a:t> </a:t>
            </a:r>
            <a:r>
              <a:rPr lang="en" sz="1000">
                <a:solidFill>
                  <a:srgbClr val="00979C"/>
                </a:solidFill>
              </a:rPr>
              <a:t>LOW</a:t>
            </a:r>
            <a:r>
              <a:rPr lang="en" sz="1000">
                <a:solidFill>
                  <a:schemeClr val="dk2"/>
                </a:solidFill>
              </a:rPr>
              <a:t>);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}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  </a:t>
            </a:r>
            <a:r>
              <a:rPr lang="en" sz="1000">
                <a:solidFill>
                  <a:srgbClr val="D35400"/>
                </a:solidFill>
              </a:rPr>
              <a:t>delay</a:t>
            </a:r>
            <a:r>
              <a:rPr lang="en" sz="1000">
                <a:solidFill>
                  <a:schemeClr val="dk2"/>
                </a:solidFill>
              </a:rPr>
              <a:t>(10); </a:t>
            </a:r>
            <a:r>
              <a:rPr lang="en" sz="1000">
                <a:solidFill>
                  <a:srgbClr val="434F54"/>
                </a:solidFill>
              </a:rPr>
              <a:t>// Wait for 10 millisecond(s)</a:t>
            </a:r>
            <a:br>
              <a:rPr lang="en" sz="1000">
                <a:solidFill>
                  <a:schemeClr val="dk2"/>
                </a:solidFill>
              </a:rPr>
            </a:br>
            <a:r>
              <a:rPr lang="en" sz="1000">
                <a:solidFill>
                  <a:schemeClr val="dk2"/>
                </a:solidFill>
              </a:rPr>
              <a:t>}</a:t>
            </a:r>
            <a:endParaRPr sz="1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- תרגילים</a:t>
            </a:r>
            <a:endParaRPr/>
          </a:p>
        </p:txBody>
      </p:sp>
      <p:sp>
        <p:nvSpPr>
          <p:cNvPr id="194" name="Google Shape;194;p30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כתבו תוכנית כשלוחצים על כפתור אז המחשב כותב "</a:t>
            </a:r>
            <a:r>
              <a:rPr lang="en">
                <a:latin typeface="Arial"/>
                <a:ea typeface="Arial"/>
                <a:cs typeface="Arial"/>
                <a:sym typeface="Arial"/>
              </a:rPr>
              <a:t>OUCH</a:t>
            </a:r>
            <a:r>
              <a:rPr lang="en"/>
              <a:t>"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כתבו תוכנית כשלוחצים על מספר אז נדלקות אותו מספר מנורות, שהמספר יהיה בין 1 ל 3</a:t>
            </a:r>
            <a:endParaRPr/>
          </a:p>
          <a:p>
            <a:pPr indent="-342900" lvl="0" marL="457200" rtl="1" algn="r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כתבו תוכנית של משחק שתופס את המנורות בפינות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1"/>
          <p:cNvSpPr txBox="1"/>
          <p:nvPr>
            <p:ph idx="1" type="body"/>
          </p:nvPr>
        </p:nvSpPr>
        <p:spPr>
          <a:xfrm>
            <a:off x="4572000" y="686450"/>
            <a:ext cx="4260300" cy="439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buttonIn = 7;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{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(buttonIn, </a:t>
            </a: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b="1"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begin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(9600);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{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 val = 0;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val = 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digitalRead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(buttonIn);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4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  if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(val == </a:t>
            </a:r>
            <a:r>
              <a:rPr lang="en" sz="14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    </a:t>
            </a:r>
            <a:r>
              <a:rPr b="1"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Serial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.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println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4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"OUCH!"</a:t>
            </a:r>
            <a:r>
              <a:rPr lang="en" sz="1400">
                <a:latin typeface="Arial"/>
                <a:ea typeface="Arial"/>
                <a:cs typeface="Arial"/>
                <a:sym typeface="Arial"/>
              </a:rPr>
              <a:t>);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>
                <a:latin typeface="Arial"/>
                <a:ea typeface="Arial"/>
                <a:cs typeface="Arial"/>
                <a:sym typeface="Arial"/>
              </a:rPr>
              <a:t>}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0" name="Google Shape;20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4650" y="152400"/>
            <a:ext cx="3503431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2"/>
          <p:cNvSpPr txBox="1"/>
          <p:nvPr>
            <p:ph type="title"/>
          </p:nvPr>
        </p:nvSpPr>
        <p:spPr>
          <a:xfrm>
            <a:off x="311700" y="-89450"/>
            <a:ext cx="8520600" cy="53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 - פתרונות</a:t>
            </a:r>
            <a:endParaRPr/>
          </a:p>
        </p:txBody>
      </p:sp>
      <p:sp>
        <p:nvSpPr>
          <p:cNvPr id="206" name="Google Shape;206;p32"/>
          <p:cNvSpPr txBox="1"/>
          <p:nvPr>
            <p:ph idx="1" type="body"/>
          </p:nvPr>
        </p:nvSpPr>
        <p:spPr>
          <a:xfrm>
            <a:off x="311700" y="367500"/>
            <a:ext cx="3928200" cy="4776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setup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{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(13, 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(12, 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(11, 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(10, 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(9, 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OUTPUT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pinMode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(6, 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INPUT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}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void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" sz="10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loop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{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val =0 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val =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digitalRead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(6);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" sz="10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i =9; i&lt;=13; i++)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{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(i,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(100);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(i,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}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lang="en" sz="1000">
                <a:solidFill>
                  <a:srgbClr val="5E6D03"/>
                </a:solidFill>
                <a:latin typeface="Arial"/>
                <a:ea typeface="Arial"/>
                <a:cs typeface="Arial"/>
                <a:sym typeface="Arial"/>
              </a:rPr>
              <a:t>for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int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 i = 13; i&gt;=9;i--)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{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(i,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HIGH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delay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(100);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</a:t>
            </a:r>
            <a:r>
              <a:rPr lang="en" sz="1000">
                <a:solidFill>
                  <a:srgbClr val="D35400"/>
                </a:solidFill>
                <a:latin typeface="Arial"/>
                <a:ea typeface="Arial"/>
                <a:cs typeface="Arial"/>
                <a:sym typeface="Arial"/>
              </a:rPr>
              <a:t>digitalWrite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(i,</a:t>
            </a:r>
            <a:r>
              <a:rPr lang="en" sz="1000">
                <a:solidFill>
                  <a:srgbClr val="00979C"/>
                </a:solidFill>
                <a:latin typeface="Arial"/>
                <a:ea typeface="Arial"/>
                <a:cs typeface="Arial"/>
                <a:sym typeface="Arial"/>
              </a:rPr>
              <a:t>LOW</a:t>
            </a:r>
            <a:r>
              <a:rPr lang="en" sz="1000">
                <a:latin typeface="Arial"/>
                <a:ea typeface="Arial"/>
                <a:cs typeface="Arial"/>
                <a:sym typeface="Arial"/>
              </a:rPr>
              <a:t>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}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}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32"/>
          <p:cNvSpPr txBox="1"/>
          <p:nvPr/>
        </p:nvSpPr>
        <p:spPr>
          <a:xfrm>
            <a:off x="6589275" y="1813350"/>
            <a:ext cx="2304300" cy="15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08" name="Google Shape;20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39861" y="0"/>
            <a:ext cx="433287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Code For Game</a:t>
            </a:r>
            <a:endParaRPr/>
          </a:p>
        </p:txBody>
      </p:sp>
      <p:sp>
        <p:nvSpPr>
          <p:cNvPr id="214" name="Google Shape;214;p33"/>
          <p:cNvSpPr txBox="1"/>
          <p:nvPr>
            <p:ph idx="1" type="body"/>
          </p:nvPr>
        </p:nvSpPr>
        <p:spPr>
          <a:xfrm>
            <a:off x="4395350" y="-157450"/>
            <a:ext cx="4437000" cy="573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void loop()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{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val = digitalRead(6);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	for(int i =9; i&lt;=13 &amp;&amp; chk;i++)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{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val = digitalRead(6);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if(val)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{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  chk = false;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}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index = i;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digitalWrite(i,HIGH);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delay(100);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digitalWrite(i,LOW);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}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	for(int i = 13; i&gt;=9 &amp;&amp; chk;i--)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{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val = digitalRead(6);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if(val)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{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  chk = false;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}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index = i;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digitalWrite(i,HIGH);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delay(50);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  digitalWrite(i,LOW);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}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if(!chk)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{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  digitalWrite(index,HIGH);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  }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latin typeface="Arial"/>
                <a:ea typeface="Arial"/>
                <a:cs typeface="Arial"/>
                <a:sym typeface="Arial"/>
              </a:rPr>
              <a:t>}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33"/>
          <p:cNvSpPr txBox="1"/>
          <p:nvPr/>
        </p:nvSpPr>
        <p:spPr>
          <a:xfrm>
            <a:off x="825900" y="1391775"/>
            <a:ext cx="3507600" cy="26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bool chk = true;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int val = 0;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int index = 0;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void setup()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{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  pinMode(13, OUTPUT);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  pinMode(12, OUTPUT);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  pinMode(11, OUTPUT);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  pinMode(10, OUTPUT);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  pinMode(9, OUTPUT);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  pinMode(6, INPUT);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  Serial.begin(9600);</a:t>
            </a:r>
            <a:endParaRPr sz="11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 sz="1100">
                <a:solidFill>
                  <a:schemeClr val="dk2"/>
                </a:solidFill>
              </a:rPr>
              <a:t>}</a:t>
            </a:r>
            <a:endParaRPr sz="11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F9D58"/>
      </a:accent4>
      <a:accent5>
        <a:srgbClr val="01AFD1"/>
      </a:accent5>
      <a:accent6>
        <a:srgbClr val="9C27B0"/>
      </a:accent6>
      <a:hlink>
        <a:srgbClr val="01AFD1"/>
      </a:hlink>
      <a:folHlink>
        <a:srgbClr val="01AFD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