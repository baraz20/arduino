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a2512c3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a2512c3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ade7c8ec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ade7c8ec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ade7c8e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ade7c8e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b85c12e4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b85c12e4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ade7c8ec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ade7c8e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ade7c8ec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ade7c8ec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ade7c8ec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ade7c8e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b85c12e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b85c12e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b85c12e4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b85c12e4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b85c12e4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b85c12e4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ade7c8e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ade7c8e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b89c57a5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b89c57a5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ארדואינו שיעור 3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889650" y="35163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כניסה ויציאה אנלוגית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חלק מהחומרים נלקחו מהמצגות ודפי העבודה של אלעד ערמון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נגד רגיל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התנגדות נמדדת ביחידות אוהם Ω </a:t>
            </a:r>
            <a:endParaRPr/>
          </a:p>
          <a:p>
            <a:pPr indent="0" lvl="0" marL="457200" rtl="1" algn="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6503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פוטנציומטר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נגד שאפשר לסובב וכך לשנות את ההתנגדות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עד עכשיו היה לנו פורט דיגיטלי - מקבל חשמל (1) או לא מקבל חשמל (0)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בפועל, חשמל יכול להיות בכמויות שונות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פורט אנלוגי (A0) יודע לקרוא כמה מטען חשמלי יש  ולהחזיר מספר מתאים.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25" y="445013"/>
            <a:ext cx="203835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פוטנציומטר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חיבור של </a:t>
            </a:r>
            <a:r>
              <a:rPr lang="en"/>
              <a:t>פוטנציומטר</a:t>
            </a:r>
            <a:r>
              <a:rPr lang="en"/>
              <a:t>:</a:t>
            </a:r>
            <a:endParaRPr/>
          </a:p>
          <a:p>
            <a:pPr indent="0" lvl="0" marL="914400" rtl="1" algn="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1" algn="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1" algn="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1" algn="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יציאה אנלוגית (חץ </a:t>
            </a:r>
            <a:r>
              <a:rPr lang="en"/>
              <a:t>החוצה</a:t>
            </a:r>
            <a:r>
              <a:rPr lang="en"/>
              <a:t>) 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25" y="445013"/>
            <a:ext cx="20383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1347" y="1673675"/>
            <a:ext cx="1745450" cy="1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7064625" y="3469825"/>
            <a:ext cx="297000" cy="3231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17"/>
          <p:cNvCxnSpPr/>
          <p:nvPr/>
        </p:nvCxnSpPr>
        <p:spPr>
          <a:xfrm>
            <a:off x="6916772" y="3365025"/>
            <a:ext cx="81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/>
          <p:nvPr/>
        </p:nvSpPr>
        <p:spPr>
          <a:xfrm>
            <a:off x="6392250" y="3469825"/>
            <a:ext cx="349200" cy="3231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422" y="1680300"/>
            <a:ext cx="1745450" cy="1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3436200" y="3424050"/>
            <a:ext cx="297000" cy="3231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7"/>
          <p:cNvCxnSpPr/>
          <p:nvPr/>
        </p:nvCxnSpPr>
        <p:spPr>
          <a:xfrm>
            <a:off x="3846847" y="3371650"/>
            <a:ext cx="81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7"/>
          <p:cNvSpPr/>
          <p:nvPr/>
        </p:nvSpPr>
        <p:spPr>
          <a:xfrm>
            <a:off x="3968600" y="3469825"/>
            <a:ext cx="349200" cy="3231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מנורת RGB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1" algn="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775" y="833438"/>
            <a:ext cx="403860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קריאת אנלוגית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קריאה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0;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(A0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v 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analogRead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(A0);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solidFill>
                <a:srgbClr val="D35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רק מפורטים: A0, A1, A2, A3, A4, A5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כתיבה</a:t>
            </a:r>
            <a:r>
              <a:rPr lang="en"/>
              <a:t> אנלוגית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כתיבה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2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12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2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analogWrite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12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255);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רק פורטים  שמסומנים ב~ כלומר: 3, 5, 6,9, 10, 11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פוטנציומטר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תחבר את המעגל הבא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מה המעגל עושה?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925" y="1597225"/>
            <a:ext cx="3295325" cy="27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645100" y="1519800"/>
            <a:ext cx="5021400" cy="3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979C"/>
                </a:solidFill>
              </a:rPr>
              <a:t>int</a:t>
            </a:r>
            <a:r>
              <a:rPr lang="en" sz="1100">
                <a:solidFill>
                  <a:schemeClr val="dk2"/>
                </a:solidFill>
              </a:rPr>
              <a:t> v </a:t>
            </a:r>
            <a:r>
              <a:rPr lang="en" sz="1100">
                <a:solidFill>
                  <a:srgbClr val="434F54"/>
                </a:solidFill>
              </a:rPr>
              <a:t>=</a:t>
            </a:r>
            <a:r>
              <a:rPr lang="en" sz="1100">
                <a:solidFill>
                  <a:schemeClr val="dk2"/>
                </a:solidFill>
              </a:rPr>
              <a:t> 0;</a:t>
            </a:r>
            <a:br>
              <a:rPr lang="en" sz="1100">
                <a:solidFill>
                  <a:schemeClr val="dk2"/>
                </a:solidFill>
              </a:rPr>
            </a:b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rgbClr val="00979C"/>
                </a:solidFill>
              </a:rPr>
              <a:t>void</a:t>
            </a:r>
            <a:r>
              <a:rPr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rgbClr val="5E6D03"/>
                </a:solidFill>
              </a:rPr>
              <a:t>setup</a:t>
            </a:r>
            <a:r>
              <a:rPr lang="en" sz="1100">
                <a:solidFill>
                  <a:schemeClr val="dk2"/>
                </a:solidFill>
              </a:rPr>
              <a:t>()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{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rgbClr val="D35400"/>
                </a:solidFill>
              </a:rPr>
              <a:t>pinMode</a:t>
            </a:r>
            <a:r>
              <a:rPr lang="en" sz="1100">
                <a:solidFill>
                  <a:schemeClr val="dk2"/>
                </a:solidFill>
              </a:rPr>
              <a:t>(A0</a:t>
            </a:r>
            <a:r>
              <a:rPr lang="en" sz="1100">
                <a:solidFill>
                  <a:srgbClr val="434F54"/>
                </a:solidFill>
              </a:rPr>
              <a:t>,</a:t>
            </a:r>
            <a:r>
              <a:rPr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rgbClr val="00979C"/>
                </a:solidFill>
              </a:rPr>
              <a:t>INPUT</a:t>
            </a:r>
            <a:r>
              <a:rPr lang="en" sz="1100">
                <a:solidFill>
                  <a:schemeClr val="dk2"/>
                </a:solidFill>
              </a:rPr>
              <a:t>);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</a:t>
            </a:r>
            <a:r>
              <a:rPr b="1" lang="en" sz="1100">
                <a:solidFill>
                  <a:srgbClr val="D35400"/>
                </a:solidFill>
              </a:rPr>
              <a:t>Serial</a:t>
            </a:r>
            <a:r>
              <a:rPr lang="en" sz="1100">
                <a:solidFill>
                  <a:srgbClr val="434F54"/>
                </a:solidFill>
              </a:rPr>
              <a:t>.</a:t>
            </a:r>
            <a:r>
              <a:rPr lang="en" sz="1100">
                <a:solidFill>
                  <a:srgbClr val="D35400"/>
                </a:solidFill>
              </a:rPr>
              <a:t>begin</a:t>
            </a:r>
            <a:r>
              <a:rPr lang="en" sz="1100">
                <a:solidFill>
                  <a:schemeClr val="dk2"/>
                </a:solidFill>
              </a:rPr>
              <a:t>(9600);</a:t>
            </a:r>
            <a:br>
              <a:rPr lang="en" sz="1100">
                <a:solidFill>
                  <a:schemeClr val="dk2"/>
                </a:solidFill>
              </a:rPr>
            </a:b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}</a:t>
            </a:r>
            <a:br>
              <a:rPr lang="en" sz="1100">
                <a:solidFill>
                  <a:schemeClr val="dk2"/>
                </a:solidFill>
              </a:rPr>
            </a:b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rgbClr val="00979C"/>
                </a:solidFill>
              </a:rPr>
              <a:t>void</a:t>
            </a:r>
            <a:r>
              <a:rPr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rgbClr val="5E6D03"/>
                </a:solidFill>
              </a:rPr>
              <a:t>loop</a:t>
            </a:r>
            <a:r>
              <a:rPr lang="en" sz="1100">
                <a:solidFill>
                  <a:schemeClr val="dk2"/>
                </a:solidFill>
              </a:rPr>
              <a:t>()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{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rgbClr val="434F54"/>
                </a:solidFill>
              </a:rPr>
              <a:t>// קרא את הערך בפורט א0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v </a:t>
            </a:r>
            <a:r>
              <a:rPr lang="en" sz="1100">
                <a:solidFill>
                  <a:srgbClr val="434F54"/>
                </a:solidFill>
              </a:rPr>
              <a:t>=</a:t>
            </a:r>
            <a:r>
              <a:rPr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rgbClr val="D35400"/>
                </a:solidFill>
              </a:rPr>
              <a:t>analogRead</a:t>
            </a:r>
            <a:r>
              <a:rPr lang="en" sz="1100">
                <a:solidFill>
                  <a:schemeClr val="dk2"/>
                </a:solidFill>
              </a:rPr>
              <a:t>(A0);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rgbClr val="434F54"/>
                </a:solidFill>
              </a:rPr>
              <a:t>// תדפיס למסך את מה שאתה קורא</a:t>
            </a:r>
            <a:endParaRPr sz="1100">
              <a:solidFill>
                <a:srgbClr val="434F5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</a:t>
            </a:r>
            <a:r>
              <a:rPr b="1" lang="en" sz="1100">
                <a:solidFill>
                  <a:srgbClr val="D35400"/>
                </a:solidFill>
              </a:rPr>
              <a:t>Serial</a:t>
            </a:r>
            <a:r>
              <a:rPr lang="en" sz="1100">
                <a:solidFill>
                  <a:srgbClr val="434F54"/>
                </a:solidFill>
              </a:rPr>
              <a:t>.</a:t>
            </a:r>
            <a:r>
              <a:rPr lang="en" sz="1100">
                <a:solidFill>
                  <a:srgbClr val="D35400"/>
                </a:solidFill>
              </a:rPr>
              <a:t>println</a:t>
            </a:r>
            <a:r>
              <a:rPr lang="en" sz="1100">
                <a:solidFill>
                  <a:schemeClr val="dk2"/>
                </a:solidFill>
              </a:rPr>
              <a:t>(v);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rgbClr val="D35400"/>
                </a:solidFill>
              </a:rPr>
              <a:t>delay</a:t>
            </a:r>
            <a:r>
              <a:rPr lang="en" sz="1100">
                <a:solidFill>
                  <a:schemeClr val="dk2"/>
                </a:solidFill>
              </a:rPr>
              <a:t>(10); </a:t>
            </a:r>
            <a:r>
              <a:rPr lang="en" sz="1100">
                <a:solidFill>
                  <a:srgbClr val="434F54"/>
                </a:solidFill>
              </a:rPr>
              <a:t>// Delay a little bit to improve simulation performance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}</a:t>
            </a:r>
            <a:br>
              <a:rPr lang="en" sz="1100">
                <a:solidFill>
                  <a:schemeClr val="dk2"/>
                </a:solidFill>
              </a:rPr>
            </a:b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פוטנציומטר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תחבר את המעגל הבא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מה המעגל עושה?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645100" y="1519800"/>
            <a:ext cx="5021400" cy="3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2"/>
                </a:solidFill>
              </a:rPr>
            </a:b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1" y="1392825"/>
            <a:ext cx="6402224" cy="37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פוטנציומטר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815050"/>
            <a:ext cx="8520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0;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(A0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(2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(5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(7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(9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analogRead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(A0);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(v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800)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(2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(2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(v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600)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(v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400)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(5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(5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(v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200)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(7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(7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(v 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0)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(9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(9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7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7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(v);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7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700">
                <a:latin typeface="Arial"/>
                <a:ea typeface="Arial"/>
                <a:cs typeface="Arial"/>
                <a:sym typeface="Arial"/>
              </a:rPr>
              <a:t>(10);</a:t>
            </a:r>
            <a:br>
              <a:rPr lang="en" sz="700">
                <a:latin typeface="Arial"/>
                <a:ea typeface="Arial"/>
                <a:cs typeface="Arial"/>
                <a:sym typeface="Arial"/>
              </a:rPr>
            </a:br>
            <a:r>
              <a:rPr lang="en" sz="700">
                <a:latin typeface="Arial"/>
                <a:ea typeface="Arial"/>
                <a:cs typeface="Arial"/>
                <a:sym typeface="Arial"/>
              </a:rPr>
              <a:t>}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815050"/>
            <a:ext cx="8520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(5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0; i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255; i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10)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{    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0; j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255; j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10)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{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k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0; k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255; k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10)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{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i);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(5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j);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</a:t>
            </a:r>
            <a:r>
              <a:rPr lang="en" sz="10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k);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(10);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  }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  }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 }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350" y="438150"/>
            <a:ext cx="6388649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תרגילים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עשו שהמנורת RGB תידלק לשניה בצבע אדום אחר כך צהוב לשניה ואחר כל ירוק לשניה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